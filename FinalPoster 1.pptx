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27432000" cy="43891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8" d="100"/>
          <a:sy n="18" d="100"/>
        </p:scale>
        <p:origin x="330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7183123"/>
            <a:ext cx="23317200" cy="15280640"/>
          </a:xfrm>
        </p:spPr>
        <p:txBody>
          <a:bodyPr anchor="b"/>
          <a:lstStyle>
            <a:lvl1pPr algn="ctr">
              <a:defRPr sz="18000"/>
            </a:lvl1pPr>
          </a:lstStyle>
          <a:p>
            <a:r>
              <a:rPr lang="en-US"/>
              <a:t>Click to edit Master title style</a:t>
            </a:r>
            <a:endParaRPr lang="en-US" dirty="0"/>
          </a:p>
        </p:txBody>
      </p:sp>
      <p:sp>
        <p:nvSpPr>
          <p:cNvPr id="3" name="Subtitle 2"/>
          <p:cNvSpPr>
            <a:spLocks noGrp="1"/>
          </p:cNvSpPr>
          <p:nvPr>
            <p:ph type="subTitle" idx="1"/>
          </p:nvPr>
        </p:nvSpPr>
        <p:spPr>
          <a:xfrm>
            <a:off x="3429000" y="23053043"/>
            <a:ext cx="20574000" cy="10596877"/>
          </a:xfrm>
        </p:spPr>
        <p:txBody>
          <a:bodyPr/>
          <a:lstStyle>
            <a:lvl1pPr marL="0" indent="0" algn="ctr">
              <a:buNone/>
              <a:defRPr sz="7200"/>
            </a:lvl1pPr>
            <a:lvl2pPr marL="1371600" indent="0" algn="ctr">
              <a:buNone/>
              <a:defRPr sz="6000"/>
            </a:lvl2pPr>
            <a:lvl3pPr marL="2743200" indent="0" algn="ctr">
              <a:buNone/>
              <a:defRPr sz="5400"/>
            </a:lvl3pPr>
            <a:lvl4pPr marL="4114800" indent="0" algn="ctr">
              <a:buNone/>
              <a:defRPr sz="4800"/>
            </a:lvl4pPr>
            <a:lvl5pPr marL="5486400" indent="0" algn="ctr">
              <a:buNone/>
              <a:defRPr sz="4800"/>
            </a:lvl5pPr>
            <a:lvl6pPr marL="6858000" indent="0" algn="ctr">
              <a:buNone/>
              <a:defRPr sz="4800"/>
            </a:lvl6pPr>
            <a:lvl7pPr marL="8229600" indent="0" algn="ctr">
              <a:buNone/>
              <a:defRPr sz="4800"/>
            </a:lvl7pPr>
            <a:lvl8pPr marL="9601200" indent="0" algn="ctr">
              <a:buNone/>
              <a:defRPr sz="4800"/>
            </a:lvl8pPr>
            <a:lvl9pPr marL="10972800" indent="0" algn="ctr">
              <a:buNone/>
              <a:defRPr sz="4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4ED9B9C-FC17-4699-B34E-6DD6032D895B}"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B1F97D-0F22-4E12-BE6D-2516917C7A7D}" type="slidenum">
              <a:rPr lang="en-US" smtClean="0"/>
              <a:t>‹#›</a:t>
            </a:fld>
            <a:endParaRPr lang="en-US"/>
          </a:p>
        </p:txBody>
      </p:sp>
    </p:spTree>
    <p:extLst>
      <p:ext uri="{BB962C8B-B14F-4D97-AF65-F5344CB8AC3E}">
        <p14:creationId xmlns:p14="http://schemas.microsoft.com/office/powerpoint/2010/main" val="2221763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ED9B9C-FC17-4699-B34E-6DD6032D895B}"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B1F97D-0F22-4E12-BE6D-2516917C7A7D}" type="slidenum">
              <a:rPr lang="en-US" smtClean="0"/>
              <a:t>‹#›</a:t>
            </a:fld>
            <a:endParaRPr lang="en-US"/>
          </a:p>
        </p:txBody>
      </p:sp>
    </p:spTree>
    <p:extLst>
      <p:ext uri="{BB962C8B-B14F-4D97-AF65-F5344CB8AC3E}">
        <p14:creationId xmlns:p14="http://schemas.microsoft.com/office/powerpoint/2010/main" val="725728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871664" y="10942333"/>
            <a:ext cx="23660100" cy="18257517"/>
          </a:xfrm>
        </p:spPr>
        <p:txBody>
          <a:bodyPr anchor="b"/>
          <a:lstStyle>
            <a:lvl1pPr>
              <a:defRPr sz="18000"/>
            </a:lvl1pPr>
          </a:lstStyle>
          <a:p>
            <a:r>
              <a:rPr lang="en-US"/>
              <a:t>Click to edit Master title style</a:t>
            </a:r>
            <a:endParaRPr lang="en-US" dirty="0"/>
          </a:p>
        </p:txBody>
      </p:sp>
      <p:sp>
        <p:nvSpPr>
          <p:cNvPr id="3" name="Text Placeholder 2"/>
          <p:cNvSpPr>
            <a:spLocks noGrp="1"/>
          </p:cNvSpPr>
          <p:nvPr>
            <p:ph type="body" idx="1"/>
          </p:nvPr>
        </p:nvSpPr>
        <p:spPr>
          <a:xfrm>
            <a:off x="1871664" y="29372573"/>
            <a:ext cx="23660100" cy="9601197"/>
          </a:xfrm>
        </p:spPr>
        <p:txBody>
          <a:bodyPr/>
          <a:lstStyle>
            <a:lvl1pPr marL="0" indent="0">
              <a:buNone/>
              <a:defRPr sz="7200">
                <a:solidFill>
                  <a:schemeClr val="tx1"/>
                </a:solidFill>
              </a:defRPr>
            </a:lvl1pPr>
            <a:lvl2pPr marL="1371600" indent="0">
              <a:buNone/>
              <a:defRPr sz="6000">
                <a:solidFill>
                  <a:schemeClr val="tx1">
                    <a:tint val="75000"/>
                  </a:schemeClr>
                </a:solidFill>
              </a:defRPr>
            </a:lvl2pPr>
            <a:lvl3pPr marL="2743200" indent="0">
              <a:buNone/>
              <a:defRPr sz="5400">
                <a:solidFill>
                  <a:schemeClr val="tx1">
                    <a:tint val="75000"/>
                  </a:schemeClr>
                </a:solidFill>
              </a:defRPr>
            </a:lvl3pPr>
            <a:lvl4pPr marL="4114800" indent="0">
              <a:buNone/>
              <a:defRPr sz="4800">
                <a:solidFill>
                  <a:schemeClr val="tx1">
                    <a:tint val="75000"/>
                  </a:schemeClr>
                </a:solidFill>
              </a:defRPr>
            </a:lvl4pPr>
            <a:lvl5pPr marL="5486400" indent="0">
              <a:buNone/>
              <a:defRPr sz="4800">
                <a:solidFill>
                  <a:schemeClr val="tx1">
                    <a:tint val="75000"/>
                  </a:schemeClr>
                </a:solidFill>
              </a:defRPr>
            </a:lvl5pPr>
            <a:lvl6pPr marL="6858000" indent="0">
              <a:buNone/>
              <a:defRPr sz="4800">
                <a:solidFill>
                  <a:schemeClr val="tx1">
                    <a:tint val="75000"/>
                  </a:schemeClr>
                </a:solidFill>
              </a:defRPr>
            </a:lvl6pPr>
            <a:lvl7pPr marL="8229600" indent="0">
              <a:buNone/>
              <a:defRPr sz="4800">
                <a:solidFill>
                  <a:schemeClr val="tx1">
                    <a:tint val="75000"/>
                  </a:schemeClr>
                </a:solidFill>
              </a:defRPr>
            </a:lvl7pPr>
            <a:lvl8pPr marL="9601200" indent="0">
              <a:buNone/>
              <a:defRPr sz="4800">
                <a:solidFill>
                  <a:schemeClr val="tx1">
                    <a:tint val="75000"/>
                  </a:schemeClr>
                </a:solidFill>
              </a:defRPr>
            </a:lvl8pPr>
            <a:lvl9pPr marL="10972800" indent="0">
              <a:buNone/>
              <a:defRPr sz="48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ED9B9C-FC17-4699-B34E-6DD6032D895B}"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B1F97D-0F22-4E12-BE6D-2516917C7A7D}" type="slidenum">
              <a:rPr lang="en-US" smtClean="0"/>
              <a:t>‹#›</a:t>
            </a:fld>
            <a:endParaRPr lang="en-US"/>
          </a:p>
        </p:txBody>
      </p:sp>
    </p:spTree>
    <p:extLst>
      <p:ext uri="{BB962C8B-B14F-4D97-AF65-F5344CB8AC3E}">
        <p14:creationId xmlns:p14="http://schemas.microsoft.com/office/powerpoint/2010/main" val="167402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885950" y="11684000"/>
            <a:ext cx="1165860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3887450" y="11684000"/>
            <a:ext cx="1165860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ED9B9C-FC17-4699-B34E-6DD6032D895B}"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B1F97D-0F22-4E12-BE6D-2516917C7A7D}" type="slidenum">
              <a:rPr lang="en-US" smtClean="0"/>
              <a:t>‹#›</a:t>
            </a:fld>
            <a:endParaRPr lang="en-US"/>
          </a:p>
        </p:txBody>
      </p:sp>
    </p:spTree>
    <p:extLst>
      <p:ext uri="{BB962C8B-B14F-4D97-AF65-F5344CB8AC3E}">
        <p14:creationId xmlns:p14="http://schemas.microsoft.com/office/powerpoint/2010/main" val="674722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889523" y="2336810"/>
            <a:ext cx="23660100" cy="848360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889526" y="10759443"/>
            <a:ext cx="11605020" cy="5273037"/>
          </a:xfrm>
        </p:spPr>
        <p:txBody>
          <a:bodyPr anchor="b"/>
          <a:lstStyle>
            <a:lvl1pPr marL="0" indent="0">
              <a:buNone/>
              <a:defRPr sz="7200" b="1"/>
            </a:lvl1pPr>
            <a:lvl2pPr marL="1371600" indent="0">
              <a:buNone/>
              <a:defRPr sz="6000" b="1"/>
            </a:lvl2pPr>
            <a:lvl3pPr marL="2743200" indent="0">
              <a:buNone/>
              <a:defRPr sz="5400" b="1"/>
            </a:lvl3pPr>
            <a:lvl4pPr marL="4114800" indent="0">
              <a:buNone/>
              <a:defRPr sz="4800" b="1"/>
            </a:lvl4pPr>
            <a:lvl5pPr marL="5486400" indent="0">
              <a:buNone/>
              <a:defRPr sz="4800" b="1"/>
            </a:lvl5pPr>
            <a:lvl6pPr marL="6858000" indent="0">
              <a:buNone/>
              <a:defRPr sz="4800" b="1"/>
            </a:lvl6pPr>
            <a:lvl7pPr marL="8229600" indent="0">
              <a:buNone/>
              <a:defRPr sz="4800" b="1"/>
            </a:lvl7pPr>
            <a:lvl8pPr marL="9601200" indent="0">
              <a:buNone/>
              <a:defRPr sz="4800" b="1"/>
            </a:lvl8pPr>
            <a:lvl9pPr marL="10972800" indent="0">
              <a:buNone/>
              <a:defRPr sz="4800" b="1"/>
            </a:lvl9pPr>
          </a:lstStyle>
          <a:p>
            <a:pPr lvl="0"/>
            <a:r>
              <a:rPr lang="en-US"/>
              <a:t>Click to edit Master text styles</a:t>
            </a:r>
          </a:p>
        </p:txBody>
      </p:sp>
      <p:sp>
        <p:nvSpPr>
          <p:cNvPr id="4" name="Content Placeholder 3"/>
          <p:cNvSpPr>
            <a:spLocks noGrp="1"/>
          </p:cNvSpPr>
          <p:nvPr>
            <p:ph sz="half" idx="2"/>
          </p:nvPr>
        </p:nvSpPr>
        <p:spPr>
          <a:xfrm>
            <a:off x="1889526" y="16032480"/>
            <a:ext cx="11605020"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3887452" y="10759443"/>
            <a:ext cx="11662173" cy="5273037"/>
          </a:xfrm>
        </p:spPr>
        <p:txBody>
          <a:bodyPr anchor="b"/>
          <a:lstStyle>
            <a:lvl1pPr marL="0" indent="0">
              <a:buNone/>
              <a:defRPr sz="7200" b="1"/>
            </a:lvl1pPr>
            <a:lvl2pPr marL="1371600" indent="0">
              <a:buNone/>
              <a:defRPr sz="6000" b="1"/>
            </a:lvl2pPr>
            <a:lvl3pPr marL="2743200" indent="0">
              <a:buNone/>
              <a:defRPr sz="5400" b="1"/>
            </a:lvl3pPr>
            <a:lvl4pPr marL="4114800" indent="0">
              <a:buNone/>
              <a:defRPr sz="4800" b="1"/>
            </a:lvl4pPr>
            <a:lvl5pPr marL="5486400" indent="0">
              <a:buNone/>
              <a:defRPr sz="4800" b="1"/>
            </a:lvl5pPr>
            <a:lvl6pPr marL="6858000" indent="0">
              <a:buNone/>
              <a:defRPr sz="4800" b="1"/>
            </a:lvl6pPr>
            <a:lvl7pPr marL="8229600" indent="0">
              <a:buNone/>
              <a:defRPr sz="4800" b="1"/>
            </a:lvl7pPr>
            <a:lvl8pPr marL="9601200" indent="0">
              <a:buNone/>
              <a:defRPr sz="4800" b="1"/>
            </a:lvl8pPr>
            <a:lvl9pPr marL="10972800" indent="0">
              <a:buNone/>
              <a:defRPr sz="4800" b="1"/>
            </a:lvl9pPr>
          </a:lstStyle>
          <a:p>
            <a:pPr lvl="0"/>
            <a:r>
              <a:rPr lang="en-US"/>
              <a:t>Click to edit Master text styles</a:t>
            </a:r>
          </a:p>
        </p:txBody>
      </p:sp>
      <p:sp>
        <p:nvSpPr>
          <p:cNvPr id="6" name="Content Placeholder 5"/>
          <p:cNvSpPr>
            <a:spLocks noGrp="1"/>
          </p:cNvSpPr>
          <p:nvPr>
            <p:ph sz="quarter" idx="4"/>
          </p:nvPr>
        </p:nvSpPr>
        <p:spPr>
          <a:xfrm>
            <a:off x="13887452" y="16032480"/>
            <a:ext cx="11662173"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4ED9B9C-FC17-4699-B34E-6DD6032D895B}" type="datetimeFigureOut">
              <a:rPr lang="en-US" smtClean="0"/>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B1F97D-0F22-4E12-BE6D-2516917C7A7D}" type="slidenum">
              <a:rPr lang="en-US" smtClean="0"/>
              <a:t>‹#›</a:t>
            </a:fld>
            <a:endParaRPr lang="en-US"/>
          </a:p>
        </p:txBody>
      </p:sp>
    </p:spTree>
    <p:extLst>
      <p:ext uri="{BB962C8B-B14F-4D97-AF65-F5344CB8AC3E}">
        <p14:creationId xmlns:p14="http://schemas.microsoft.com/office/powerpoint/2010/main" val="1967911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4ED9B9C-FC17-4699-B34E-6DD6032D895B}" type="datetimeFigureOut">
              <a:rPr lang="en-US" smtClean="0"/>
              <a:t>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6B1F97D-0F22-4E12-BE6D-2516917C7A7D}" type="slidenum">
              <a:rPr lang="en-US" smtClean="0"/>
              <a:t>‹#›</a:t>
            </a:fld>
            <a:endParaRPr lang="en-US"/>
          </a:p>
        </p:txBody>
      </p:sp>
    </p:spTree>
    <p:extLst>
      <p:ext uri="{BB962C8B-B14F-4D97-AF65-F5344CB8AC3E}">
        <p14:creationId xmlns:p14="http://schemas.microsoft.com/office/powerpoint/2010/main" val="2356858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ED9B9C-FC17-4699-B34E-6DD6032D895B}" type="datetimeFigureOut">
              <a:rPr lang="en-US" smtClean="0"/>
              <a:t>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B1F97D-0F22-4E12-BE6D-2516917C7A7D}" type="slidenum">
              <a:rPr lang="en-US" smtClean="0"/>
              <a:t>‹#›</a:t>
            </a:fld>
            <a:endParaRPr lang="en-US"/>
          </a:p>
        </p:txBody>
      </p:sp>
    </p:spTree>
    <p:extLst>
      <p:ext uri="{BB962C8B-B14F-4D97-AF65-F5344CB8AC3E}">
        <p14:creationId xmlns:p14="http://schemas.microsoft.com/office/powerpoint/2010/main" val="2044086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89523" y="2926080"/>
            <a:ext cx="8847534" cy="10241280"/>
          </a:xfrm>
        </p:spPr>
        <p:txBody>
          <a:bodyPr anchor="b"/>
          <a:lstStyle>
            <a:lvl1pPr>
              <a:defRPr sz="9600"/>
            </a:lvl1pPr>
          </a:lstStyle>
          <a:p>
            <a:r>
              <a:rPr lang="en-US"/>
              <a:t>Click to edit Master title style</a:t>
            </a:r>
            <a:endParaRPr lang="en-US" dirty="0"/>
          </a:p>
        </p:txBody>
      </p:sp>
      <p:sp>
        <p:nvSpPr>
          <p:cNvPr id="3" name="Content Placeholder 2"/>
          <p:cNvSpPr>
            <a:spLocks noGrp="1"/>
          </p:cNvSpPr>
          <p:nvPr>
            <p:ph idx="1"/>
          </p:nvPr>
        </p:nvSpPr>
        <p:spPr>
          <a:xfrm>
            <a:off x="11662173" y="6319530"/>
            <a:ext cx="13887450" cy="31191200"/>
          </a:xfrm>
        </p:spPr>
        <p:txBody>
          <a:bodyPr/>
          <a:lstStyle>
            <a:lvl1pPr>
              <a:defRPr sz="9600"/>
            </a:lvl1pPr>
            <a:lvl2pPr>
              <a:defRPr sz="8400"/>
            </a:lvl2pPr>
            <a:lvl3pPr>
              <a:defRPr sz="7200"/>
            </a:lvl3pPr>
            <a:lvl4pPr>
              <a:defRPr sz="6000"/>
            </a:lvl4pPr>
            <a:lvl5pPr>
              <a:defRPr sz="6000"/>
            </a:lvl5pPr>
            <a:lvl6pPr>
              <a:defRPr sz="6000"/>
            </a:lvl6pPr>
            <a:lvl7pPr>
              <a:defRPr sz="6000"/>
            </a:lvl7pPr>
            <a:lvl8pPr>
              <a:defRPr sz="6000"/>
            </a:lvl8pPr>
            <a:lvl9pPr>
              <a:defRPr sz="6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889523" y="13167360"/>
            <a:ext cx="8847534" cy="24394163"/>
          </a:xfrm>
        </p:spPr>
        <p:txBody>
          <a:bodyPr/>
          <a:lstStyle>
            <a:lvl1pPr marL="0" indent="0">
              <a:buNone/>
              <a:defRPr sz="4800"/>
            </a:lvl1pPr>
            <a:lvl2pPr marL="1371600" indent="0">
              <a:buNone/>
              <a:defRPr sz="4200"/>
            </a:lvl2pPr>
            <a:lvl3pPr marL="2743200" indent="0">
              <a:buNone/>
              <a:defRPr sz="3600"/>
            </a:lvl3pPr>
            <a:lvl4pPr marL="4114800" indent="0">
              <a:buNone/>
              <a:defRPr sz="3000"/>
            </a:lvl4pPr>
            <a:lvl5pPr marL="5486400" indent="0">
              <a:buNone/>
              <a:defRPr sz="3000"/>
            </a:lvl5pPr>
            <a:lvl6pPr marL="6858000" indent="0">
              <a:buNone/>
              <a:defRPr sz="3000"/>
            </a:lvl6pPr>
            <a:lvl7pPr marL="8229600" indent="0">
              <a:buNone/>
              <a:defRPr sz="3000"/>
            </a:lvl7pPr>
            <a:lvl8pPr marL="9601200" indent="0">
              <a:buNone/>
              <a:defRPr sz="3000"/>
            </a:lvl8pPr>
            <a:lvl9pPr marL="10972800" indent="0">
              <a:buNone/>
              <a:defRPr sz="3000"/>
            </a:lvl9pPr>
          </a:lstStyle>
          <a:p>
            <a:pPr lvl="0"/>
            <a:r>
              <a:rPr lang="en-US"/>
              <a:t>Click to edit Master text styles</a:t>
            </a:r>
          </a:p>
        </p:txBody>
      </p:sp>
      <p:sp>
        <p:nvSpPr>
          <p:cNvPr id="5" name="Date Placeholder 4"/>
          <p:cNvSpPr>
            <a:spLocks noGrp="1"/>
          </p:cNvSpPr>
          <p:nvPr>
            <p:ph type="dt" sz="half" idx="10"/>
          </p:nvPr>
        </p:nvSpPr>
        <p:spPr/>
        <p:txBody>
          <a:bodyPr/>
          <a:lstStyle/>
          <a:p>
            <a:fld id="{A4ED9B9C-FC17-4699-B34E-6DD6032D895B}"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B1F97D-0F22-4E12-BE6D-2516917C7A7D}" type="slidenum">
              <a:rPr lang="en-US" smtClean="0"/>
              <a:t>‹#›</a:t>
            </a:fld>
            <a:endParaRPr lang="en-US"/>
          </a:p>
        </p:txBody>
      </p:sp>
    </p:spTree>
    <p:extLst>
      <p:ext uri="{BB962C8B-B14F-4D97-AF65-F5344CB8AC3E}">
        <p14:creationId xmlns:p14="http://schemas.microsoft.com/office/powerpoint/2010/main" val="315312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89523" y="2926080"/>
            <a:ext cx="8847534" cy="10241280"/>
          </a:xfrm>
        </p:spPr>
        <p:txBody>
          <a:bodyPr anchor="b"/>
          <a:lstStyle>
            <a:lvl1pPr>
              <a:defRPr sz="9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62173" y="6319530"/>
            <a:ext cx="13887450" cy="31191200"/>
          </a:xfrm>
        </p:spPr>
        <p:txBody>
          <a:bodyPr anchor="t"/>
          <a:lstStyle>
            <a:lvl1pPr marL="0" indent="0">
              <a:buNone/>
              <a:defRPr sz="9600"/>
            </a:lvl1pPr>
            <a:lvl2pPr marL="1371600" indent="0">
              <a:buNone/>
              <a:defRPr sz="8400"/>
            </a:lvl2pPr>
            <a:lvl3pPr marL="2743200" indent="0">
              <a:buNone/>
              <a:defRPr sz="7200"/>
            </a:lvl3pPr>
            <a:lvl4pPr marL="4114800" indent="0">
              <a:buNone/>
              <a:defRPr sz="6000"/>
            </a:lvl4pPr>
            <a:lvl5pPr marL="5486400" indent="0">
              <a:buNone/>
              <a:defRPr sz="6000"/>
            </a:lvl5pPr>
            <a:lvl6pPr marL="6858000" indent="0">
              <a:buNone/>
              <a:defRPr sz="6000"/>
            </a:lvl6pPr>
            <a:lvl7pPr marL="8229600" indent="0">
              <a:buNone/>
              <a:defRPr sz="6000"/>
            </a:lvl7pPr>
            <a:lvl8pPr marL="9601200" indent="0">
              <a:buNone/>
              <a:defRPr sz="6000"/>
            </a:lvl8pPr>
            <a:lvl9pPr marL="10972800" indent="0">
              <a:buNone/>
              <a:defRPr sz="6000"/>
            </a:lvl9pPr>
          </a:lstStyle>
          <a:p>
            <a:r>
              <a:rPr lang="en-US"/>
              <a:t>Click icon to add picture</a:t>
            </a:r>
            <a:endParaRPr lang="en-US" dirty="0"/>
          </a:p>
        </p:txBody>
      </p:sp>
      <p:sp>
        <p:nvSpPr>
          <p:cNvPr id="4" name="Text Placeholder 3"/>
          <p:cNvSpPr>
            <a:spLocks noGrp="1"/>
          </p:cNvSpPr>
          <p:nvPr>
            <p:ph type="body" sz="half" idx="2"/>
          </p:nvPr>
        </p:nvSpPr>
        <p:spPr>
          <a:xfrm>
            <a:off x="1889523" y="13167360"/>
            <a:ext cx="8847534" cy="24394163"/>
          </a:xfrm>
        </p:spPr>
        <p:txBody>
          <a:bodyPr/>
          <a:lstStyle>
            <a:lvl1pPr marL="0" indent="0">
              <a:buNone/>
              <a:defRPr sz="4800"/>
            </a:lvl1pPr>
            <a:lvl2pPr marL="1371600" indent="0">
              <a:buNone/>
              <a:defRPr sz="4200"/>
            </a:lvl2pPr>
            <a:lvl3pPr marL="2743200" indent="0">
              <a:buNone/>
              <a:defRPr sz="3600"/>
            </a:lvl3pPr>
            <a:lvl4pPr marL="4114800" indent="0">
              <a:buNone/>
              <a:defRPr sz="3000"/>
            </a:lvl4pPr>
            <a:lvl5pPr marL="5486400" indent="0">
              <a:buNone/>
              <a:defRPr sz="3000"/>
            </a:lvl5pPr>
            <a:lvl6pPr marL="6858000" indent="0">
              <a:buNone/>
              <a:defRPr sz="3000"/>
            </a:lvl6pPr>
            <a:lvl7pPr marL="8229600" indent="0">
              <a:buNone/>
              <a:defRPr sz="3000"/>
            </a:lvl7pPr>
            <a:lvl8pPr marL="9601200" indent="0">
              <a:buNone/>
              <a:defRPr sz="3000"/>
            </a:lvl8pPr>
            <a:lvl9pPr marL="10972800" indent="0">
              <a:buNone/>
              <a:defRPr sz="3000"/>
            </a:lvl9pPr>
          </a:lstStyle>
          <a:p>
            <a:pPr lvl="0"/>
            <a:r>
              <a:rPr lang="en-US"/>
              <a:t>Click to edit Master text styles</a:t>
            </a:r>
          </a:p>
        </p:txBody>
      </p:sp>
      <p:sp>
        <p:nvSpPr>
          <p:cNvPr id="5" name="Date Placeholder 4"/>
          <p:cNvSpPr>
            <a:spLocks noGrp="1"/>
          </p:cNvSpPr>
          <p:nvPr>
            <p:ph type="dt" sz="half" idx="10"/>
          </p:nvPr>
        </p:nvSpPr>
        <p:spPr/>
        <p:txBody>
          <a:bodyPr/>
          <a:lstStyle/>
          <a:p>
            <a:fld id="{A4ED9B9C-FC17-4699-B34E-6DD6032D895B}"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B1F97D-0F22-4E12-BE6D-2516917C7A7D}" type="slidenum">
              <a:rPr lang="en-US" smtClean="0"/>
              <a:t>‹#›</a:t>
            </a:fld>
            <a:endParaRPr lang="en-US"/>
          </a:p>
        </p:txBody>
      </p:sp>
    </p:spTree>
    <p:extLst>
      <p:ext uri="{BB962C8B-B14F-4D97-AF65-F5344CB8AC3E}">
        <p14:creationId xmlns:p14="http://schemas.microsoft.com/office/powerpoint/2010/main" val="2673410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ED9B9C-FC17-4699-B34E-6DD6032D895B}"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B1F97D-0F22-4E12-BE6D-2516917C7A7D}" type="slidenum">
              <a:rPr lang="en-US" smtClean="0"/>
              <a:t>‹#›</a:t>
            </a:fld>
            <a:endParaRPr lang="en-US"/>
          </a:p>
        </p:txBody>
      </p:sp>
    </p:spTree>
    <p:extLst>
      <p:ext uri="{BB962C8B-B14F-4D97-AF65-F5344CB8AC3E}">
        <p14:creationId xmlns:p14="http://schemas.microsoft.com/office/powerpoint/2010/main" val="2887266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9631027" y="2336800"/>
            <a:ext cx="5915025" cy="3719576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885952" y="2336800"/>
            <a:ext cx="17402175" cy="37195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ED9B9C-FC17-4699-B34E-6DD6032D895B}"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B1F97D-0F22-4E12-BE6D-2516917C7A7D}" type="slidenum">
              <a:rPr lang="en-US" smtClean="0"/>
              <a:t>‹#›</a:t>
            </a:fld>
            <a:endParaRPr lang="en-US"/>
          </a:p>
        </p:txBody>
      </p:sp>
    </p:spTree>
    <p:extLst>
      <p:ext uri="{BB962C8B-B14F-4D97-AF65-F5344CB8AC3E}">
        <p14:creationId xmlns:p14="http://schemas.microsoft.com/office/powerpoint/2010/main" val="3864862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85950" y="2336810"/>
            <a:ext cx="23660100" cy="848360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885950" y="11684000"/>
            <a:ext cx="23660100" cy="27848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885950" y="40680650"/>
            <a:ext cx="6172200" cy="2336800"/>
          </a:xfrm>
          <a:prstGeom prst="rect">
            <a:avLst/>
          </a:prstGeom>
        </p:spPr>
        <p:txBody>
          <a:bodyPr vert="horz" lIns="91440" tIns="45720" rIns="91440" bIns="45720" rtlCol="0" anchor="ctr"/>
          <a:lstStyle>
            <a:lvl1pPr algn="l">
              <a:defRPr sz="3600">
                <a:solidFill>
                  <a:schemeClr val="tx1">
                    <a:tint val="75000"/>
                  </a:schemeClr>
                </a:solidFill>
              </a:defRPr>
            </a:lvl1pPr>
          </a:lstStyle>
          <a:p>
            <a:fld id="{A4ED9B9C-FC17-4699-B34E-6DD6032D895B}" type="datetimeFigureOut">
              <a:rPr lang="en-US" smtClean="0"/>
              <a:t>12/4/2025</a:t>
            </a:fld>
            <a:endParaRPr lang="en-US"/>
          </a:p>
        </p:txBody>
      </p:sp>
      <p:sp>
        <p:nvSpPr>
          <p:cNvPr id="5" name="Footer Placeholder 4"/>
          <p:cNvSpPr>
            <a:spLocks noGrp="1"/>
          </p:cNvSpPr>
          <p:nvPr>
            <p:ph type="ftr" sz="quarter" idx="3"/>
          </p:nvPr>
        </p:nvSpPr>
        <p:spPr>
          <a:xfrm>
            <a:off x="9086850" y="40680650"/>
            <a:ext cx="9258300" cy="2336800"/>
          </a:xfrm>
          <a:prstGeom prst="rect">
            <a:avLst/>
          </a:prstGeom>
        </p:spPr>
        <p:txBody>
          <a:bodyPr vert="horz" lIns="91440" tIns="45720" rIns="91440" bIns="45720" rtlCol="0" anchor="ctr"/>
          <a:lstStyle>
            <a:lvl1pPr algn="ctr">
              <a:defRPr sz="3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9373850" y="40680650"/>
            <a:ext cx="6172200" cy="2336800"/>
          </a:xfrm>
          <a:prstGeom prst="rect">
            <a:avLst/>
          </a:prstGeom>
        </p:spPr>
        <p:txBody>
          <a:bodyPr vert="horz" lIns="91440" tIns="45720" rIns="91440" bIns="45720" rtlCol="0" anchor="ctr"/>
          <a:lstStyle>
            <a:lvl1pPr algn="r">
              <a:defRPr sz="3600">
                <a:solidFill>
                  <a:schemeClr val="tx1">
                    <a:tint val="75000"/>
                  </a:schemeClr>
                </a:solidFill>
              </a:defRPr>
            </a:lvl1pPr>
          </a:lstStyle>
          <a:p>
            <a:fld id="{36B1F97D-0F22-4E12-BE6D-2516917C7A7D}" type="slidenum">
              <a:rPr lang="en-US" smtClean="0"/>
              <a:t>‹#›</a:t>
            </a:fld>
            <a:endParaRPr lang="en-US"/>
          </a:p>
        </p:txBody>
      </p:sp>
    </p:spTree>
    <p:extLst>
      <p:ext uri="{BB962C8B-B14F-4D97-AF65-F5344CB8AC3E}">
        <p14:creationId xmlns:p14="http://schemas.microsoft.com/office/powerpoint/2010/main" val="30610360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743200" rtl="0" eaLnBrk="1" latinLnBrk="0" hangingPunct="1">
        <a:lnSpc>
          <a:spcPct val="90000"/>
        </a:lnSpc>
        <a:spcBef>
          <a:spcPct val="0"/>
        </a:spcBef>
        <a:buNone/>
        <a:defRPr sz="13200" kern="1200">
          <a:solidFill>
            <a:schemeClr val="tx1"/>
          </a:solidFill>
          <a:latin typeface="+mj-lt"/>
          <a:ea typeface="+mj-ea"/>
          <a:cs typeface="+mj-cs"/>
        </a:defRPr>
      </a:lvl1pPr>
    </p:titleStyle>
    <p:body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doi.org/10.3947/ic.2020.0104" TargetMode="External"/><Relationship Id="rId13" Type="http://schemas.openxmlformats.org/officeDocument/2006/relationships/image" Target="../media/image5.jpg"/><Relationship Id="rId3" Type="http://schemas.openxmlformats.org/officeDocument/2006/relationships/hyperlink" Target="https://doi.org/10.1080/10872981.2020.1742967" TargetMode="External"/><Relationship Id="rId7" Type="http://schemas.openxmlformats.org/officeDocument/2006/relationships/hyperlink" Target="https://doi.org/10.3390/diagnostics14020156" TargetMode="External"/><Relationship Id="rId12"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s://doi.org/10.1080/0886022X.2024.2380752" TargetMode="External"/><Relationship Id="rId11" Type="http://schemas.openxmlformats.org/officeDocument/2006/relationships/image" Target="../media/image3.png"/><Relationship Id="rId5" Type="http://schemas.openxmlformats.org/officeDocument/2006/relationships/hyperlink" Target="https://doi.org/10.3390/ijerph18042086" TargetMode="External"/><Relationship Id="rId10" Type="http://schemas.openxmlformats.org/officeDocument/2006/relationships/image" Target="../media/image2.png"/><Relationship Id="rId4" Type="http://schemas.openxmlformats.org/officeDocument/2006/relationships/hyperlink" Target="https://doi.org/10.1186/s12911-023-02123-5" TargetMode="External"/><Relationship Id="rId9" Type="http://schemas.openxmlformats.org/officeDocument/2006/relationships/hyperlink" Target="https://doi.org/10.1007/s00247-025-06317-z"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0BF7F99-FB97-4B7E-97B0-8AACBBB56B0A}"/>
              </a:ext>
            </a:extLst>
          </p:cNvPr>
          <p:cNvSpPr>
            <a:spLocks noGrp="1" noRot="1" noMove="1" noResize="1" noEditPoints="1" noAdjustHandles="1" noChangeArrowheads="1" noChangeShapeType="1"/>
          </p:cNvSpPr>
          <p:nvPr/>
        </p:nvSpPr>
        <p:spPr>
          <a:xfrm>
            <a:off x="0" y="0"/>
            <a:ext cx="27432000" cy="3425825"/>
          </a:xfrm>
          <a:prstGeom prst="rect">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dirty="0"/>
          </a:p>
        </p:txBody>
      </p:sp>
      <p:pic>
        <p:nvPicPr>
          <p:cNvPr id="5" name="Picture 2">
            <a:extLst>
              <a:ext uri="{FF2B5EF4-FFF2-40B4-BE49-F238E27FC236}">
                <a16:creationId xmlns:a16="http://schemas.microsoft.com/office/drawing/2014/main" id="{A0C11C65-ADE5-4AFE-9A4C-2C41572520C3}"/>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3678443" y="322262"/>
            <a:ext cx="2781300" cy="27813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E6F750B-226E-4455-BA6B-1D3619CC1CAD}"/>
              </a:ext>
            </a:extLst>
          </p:cNvPr>
          <p:cNvSpPr txBox="1">
            <a:spLocks noGrp="1" noRot="1" noMove="1" noResize="1" noEditPoints="1" noAdjustHandles="1" noChangeArrowheads="1" noChangeShapeType="1"/>
          </p:cNvSpPr>
          <p:nvPr/>
        </p:nvSpPr>
        <p:spPr>
          <a:xfrm>
            <a:off x="957742" y="776114"/>
            <a:ext cx="21674651" cy="2246384"/>
          </a:xfrm>
          <a:prstGeom prst="rect">
            <a:avLst/>
          </a:prstGeom>
          <a:noFill/>
        </p:spPr>
        <p:txBody>
          <a:bodyPr wrap="none">
            <a:spAutoFit/>
          </a:bodyPr>
          <a:lstStyle/>
          <a:p>
            <a:r>
              <a:rPr lang="en-GB" sz="4666" dirty="0">
                <a:solidFill>
                  <a:schemeClr val="bg2"/>
                </a:solidFill>
                <a:latin typeface="Cambria" panose="02040503050406030204" pitchFamily="18" charset="0"/>
                <a:ea typeface="Cambria" panose="02040503050406030204" pitchFamily="18" charset="0"/>
              </a:rPr>
              <a:t>Evidence-Driven Differential Diagnosis: A Machine-Learning Framework Integrating </a:t>
            </a:r>
          </a:p>
          <a:p>
            <a:r>
              <a:rPr lang="en-GB" sz="4666" dirty="0">
                <a:solidFill>
                  <a:schemeClr val="bg2"/>
                </a:solidFill>
                <a:latin typeface="Cambria" panose="02040503050406030204" pitchFamily="18" charset="0"/>
                <a:ea typeface="Cambria" panose="02040503050406030204" pitchFamily="18" charset="0"/>
              </a:rPr>
              <a:t>Structured Patient Data and Metadata-Derived Human-Readable Clinical Evidence</a:t>
            </a:r>
          </a:p>
          <a:p>
            <a:endParaRPr lang="en-US" sz="4666" dirty="0">
              <a:solidFill>
                <a:schemeClr val="bg2"/>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4EEE10C6-28EC-497C-BFED-3B495B352E72}"/>
              </a:ext>
            </a:extLst>
          </p:cNvPr>
          <p:cNvSpPr txBox="1">
            <a:spLocks noGrp="1" noRot="1" noMove="1" noResize="1" noEditPoints="1" noAdjustHandles="1" noChangeArrowheads="1" noChangeShapeType="1"/>
          </p:cNvSpPr>
          <p:nvPr/>
        </p:nvSpPr>
        <p:spPr>
          <a:xfrm>
            <a:off x="895350" y="2659410"/>
            <a:ext cx="15838118" cy="451342"/>
          </a:xfrm>
          <a:prstGeom prst="rect">
            <a:avLst/>
          </a:prstGeom>
          <a:noFill/>
        </p:spPr>
        <p:txBody>
          <a:bodyPr wrap="none">
            <a:spAutoFit/>
          </a:bodyPr>
          <a:lstStyle/>
          <a:p>
            <a:pPr>
              <a:spcBef>
                <a:spcPts val="1500"/>
              </a:spcBef>
              <a:defRPr/>
            </a:pPr>
            <a:r>
              <a:rPr lang="en-US" altLang="en-US" sz="2333" dirty="0">
                <a:solidFill>
                  <a:schemeClr val="bg1"/>
                </a:solidFill>
                <a:latin typeface="Cambria" panose="02040503050406030204" pitchFamily="18" charset="0"/>
                <a:ea typeface="Cambria" panose="02040503050406030204" pitchFamily="18" charset="0"/>
              </a:rPr>
              <a:t>S. M. Masum (21-45807-3), </a:t>
            </a:r>
            <a:r>
              <a:rPr lang="en-US" altLang="en-US" sz="2333" dirty="0" err="1">
                <a:solidFill>
                  <a:schemeClr val="bg1"/>
                </a:solidFill>
                <a:latin typeface="Cambria" panose="02040503050406030204" pitchFamily="18" charset="0"/>
                <a:ea typeface="Cambria" panose="02040503050406030204" pitchFamily="18" charset="0"/>
              </a:rPr>
              <a:t>Susmita</a:t>
            </a:r>
            <a:r>
              <a:rPr lang="en-US" altLang="en-US" sz="2333" dirty="0">
                <a:solidFill>
                  <a:schemeClr val="bg1"/>
                </a:solidFill>
                <a:latin typeface="Cambria" panose="02040503050406030204" pitchFamily="18" charset="0"/>
                <a:ea typeface="Cambria" panose="02040503050406030204" pitchFamily="18" charset="0"/>
              </a:rPr>
              <a:t> </a:t>
            </a:r>
            <a:r>
              <a:rPr lang="en-US" altLang="en-US" sz="2333" dirty="0" err="1">
                <a:solidFill>
                  <a:schemeClr val="bg1"/>
                </a:solidFill>
                <a:latin typeface="Cambria" panose="02040503050406030204" pitchFamily="18" charset="0"/>
                <a:ea typeface="Cambria" panose="02040503050406030204" pitchFamily="18" charset="0"/>
              </a:rPr>
              <a:t>Alam</a:t>
            </a:r>
            <a:r>
              <a:rPr lang="en-US" altLang="en-US" sz="2333" dirty="0">
                <a:solidFill>
                  <a:schemeClr val="bg1"/>
                </a:solidFill>
                <a:latin typeface="Cambria" panose="02040503050406030204" pitchFamily="18" charset="0"/>
                <a:ea typeface="Cambria" panose="02040503050406030204" pitchFamily="18" charset="0"/>
              </a:rPr>
              <a:t> </a:t>
            </a:r>
            <a:r>
              <a:rPr lang="en-US" altLang="en-US" sz="2333" dirty="0" err="1">
                <a:solidFill>
                  <a:schemeClr val="bg1"/>
                </a:solidFill>
                <a:latin typeface="Cambria" panose="02040503050406030204" pitchFamily="18" charset="0"/>
                <a:ea typeface="Cambria" panose="02040503050406030204" pitchFamily="18" charset="0"/>
              </a:rPr>
              <a:t>Athina</a:t>
            </a:r>
            <a:r>
              <a:rPr lang="en-US" altLang="en-US" sz="2333" dirty="0">
                <a:solidFill>
                  <a:schemeClr val="bg1"/>
                </a:solidFill>
                <a:latin typeface="Cambria" panose="02040503050406030204" pitchFamily="18" charset="0"/>
                <a:ea typeface="Cambria" panose="02040503050406030204" pitchFamily="18" charset="0"/>
              </a:rPr>
              <a:t> (21-45411-3), </a:t>
            </a:r>
            <a:r>
              <a:rPr lang="en-US" altLang="en-US" sz="2333" dirty="0" err="1">
                <a:solidFill>
                  <a:schemeClr val="bg1"/>
                </a:solidFill>
                <a:latin typeface="Cambria" panose="02040503050406030204" pitchFamily="18" charset="0"/>
                <a:ea typeface="Cambria" panose="02040503050406030204" pitchFamily="18" charset="0"/>
              </a:rPr>
              <a:t>Faria</a:t>
            </a:r>
            <a:r>
              <a:rPr lang="en-US" altLang="en-US" sz="2333" dirty="0">
                <a:solidFill>
                  <a:schemeClr val="bg1"/>
                </a:solidFill>
                <a:latin typeface="Cambria" panose="02040503050406030204" pitchFamily="18" charset="0"/>
                <a:ea typeface="Cambria" panose="02040503050406030204" pitchFamily="18" charset="0"/>
              </a:rPr>
              <a:t> Nusrat </a:t>
            </a:r>
            <a:r>
              <a:rPr lang="en-US" altLang="en-US" sz="2333" dirty="0" err="1">
                <a:solidFill>
                  <a:schemeClr val="bg1"/>
                </a:solidFill>
                <a:latin typeface="Cambria" panose="02040503050406030204" pitchFamily="18" charset="0"/>
                <a:ea typeface="Cambria" panose="02040503050406030204" pitchFamily="18" charset="0"/>
              </a:rPr>
              <a:t>Binte</a:t>
            </a:r>
            <a:r>
              <a:rPr lang="en-US" altLang="en-US" sz="2333" dirty="0">
                <a:solidFill>
                  <a:schemeClr val="bg1"/>
                </a:solidFill>
                <a:latin typeface="Cambria" panose="02040503050406030204" pitchFamily="18" charset="0"/>
                <a:ea typeface="Cambria" panose="02040503050406030204" pitchFamily="18" charset="0"/>
              </a:rPr>
              <a:t> (20-44284-3), </a:t>
            </a:r>
            <a:r>
              <a:rPr lang="en-US" altLang="en-US" sz="2333" dirty="0" err="1">
                <a:solidFill>
                  <a:schemeClr val="bg1"/>
                </a:solidFill>
                <a:latin typeface="Cambria" panose="02040503050406030204" pitchFamily="18" charset="0"/>
                <a:ea typeface="Cambria" panose="02040503050406030204" pitchFamily="18" charset="0"/>
              </a:rPr>
              <a:t>Sagor</a:t>
            </a:r>
            <a:r>
              <a:rPr lang="en-US" altLang="en-US" sz="2333" dirty="0">
                <a:solidFill>
                  <a:schemeClr val="bg1"/>
                </a:solidFill>
                <a:latin typeface="Cambria" panose="02040503050406030204" pitchFamily="18" charset="0"/>
                <a:ea typeface="Cambria" panose="02040503050406030204" pitchFamily="18" charset="0"/>
              </a:rPr>
              <a:t> </a:t>
            </a:r>
            <a:r>
              <a:rPr lang="en-US" altLang="en-US" sz="2333" dirty="0" err="1">
                <a:solidFill>
                  <a:schemeClr val="bg1"/>
                </a:solidFill>
                <a:latin typeface="Cambria" panose="02040503050406030204" pitchFamily="18" charset="0"/>
                <a:ea typeface="Cambria" panose="02040503050406030204" pitchFamily="18" charset="0"/>
              </a:rPr>
              <a:t>Saha</a:t>
            </a:r>
            <a:r>
              <a:rPr lang="en-US" altLang="en-US" sz="2333" dirty="0">
                <a:solidFill>
                  <a:schemeClr val="bg1"/>
                </a:solidFill>
                <a:latin typeface="Cambria" panose="02040503050406030204" pitchFamily="18" charset="0"/>
                <a:ea typeface="Cambria" panose="02040503050406030204" pitchFamily="18" charset="0"/>
              </a:rPr>
              <a:t> (21-45074-2)  </a:t>
            </a:r>
          </a:p>
        </p:txBody>
      </p:sp>
      <p:sp>
        <p:nvSpPr>
          <p:cNvPr id="11" name="TextBox 10">
            <a:extLst>
              <a:ext uri="{FF2B5EF4-FFF2-40B4-BE49-F238E27FC236}">
                <a16:creationId xmlns:a16="http://schemas.microsoft.com/office/drawing/2014/main" id="{29BA87C3-0E3C-4DE2-A748-FB557F41413A}"/>
              </a:ext>
            </a:extLst>
          </p:cNvPr>
          <p:cNvSpPr txBox="1"/>
          <p:nvPr/>
        </p:nvSpPr>
        <p:spPr>
          <a:xfrm>
            <a:off x="633891" y="3771900"/>
            <a:ext cx="8839200" cy="5585251"/>
          </a:xfrm>
          <a:prstGeom prst="rect">
            <a:avLst/>
          </a:prstGeom>
          <a:noFill/>
        </p:spPr>
        <p:txBody>
          <a:bodyPr wrap="square" rtlCol="0">
            <a:spAutoFit/>
          </a:bodyPr>
          <a:lstStyle/>
          <a:p>
            <a:endParaRPr lang="en-US" dirty="0"/>
          </a:p>
        </p:txBody>
      </p:sp>
      <p:sp>
        <p:nvSpPr>
          <p:cNvPr id="14" name="Rectangle 13">
            <a:extLst>
              <a:ext uri="{FF2B5EF4-FFF2-40B4-BE49-F238E27FC236}">
                <a16:creationId xmlns:a16="http://schemas.microsoft.com/office/drawing/2014/main" id="{3D0830E8-F141-4B16-9892-C9EDE0FDFEC3}"/>
              </a:ext>
            </a:extLst>
          </p:cNvPr>
          <p:cNvSpPr>
            <a:spLocks noGrp="1" noRot="1" noMove="1" noResize="1" noEditPoints="1" noAdjustHandles="1" noChangeArrowheads="1" noChangeShapeType="1"/>
          </p:cNvSpPr>
          <p:nvPr/>
        </p:nvSpPr>
        <p:spPr>
          <a:xfrm>
            <a:off x="-1" y="42214005"/>
            <a:ext cx="27431999" cy="1677195"/>
          </a:xfrm>
          <a:prstGeom prst="rect">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dirty="0"/>
          </a:p>
        </p:txBody>
      </p:sp>
      <p:sp>
        <p:nvSpPr>
          <p:cNvPr id="15" name="Rectangle 14">
            <a:extLst>
              <a:ext uri="{FF2B5EF4-FFF2-40B4-BE49-F238E27FC236}">
                <a16:creationId xmlns:a16="http://schemas.microsoft.com/office/drawing/2014/main" id="{A62F6564-5D1E-41C5-9842-1E1476957070}"/>
              </a:ext>
            </a:extLst>
          </p:cNvPr>
          <p:cNvSpPr>
            <a:spLocks noGrp="1" noRot="1" noMove="1" noResize="1" noEditPoints="1" noAdjustHandles="1" noChangeArrowheads="1" noChangeShapeType="1"/>
          </p:cNvSpPr>
          <p:nvPr/>
        </p:nvSpPr>
        <p:spPr>
          <a:xfrm>
            <a:off x="18040724" y="42544923"/>
            <a:ext cx="9272571" cy="1103498"/>
          </a:xfrm>
          <a:prstGeom prst="rect">
            <a:avLst/>
          </a:prstGeom>
        </p:spPr>
        <p:txBody>
          <a:bodyPr wrap="square">
            <a:noAutofit/>
          </a:bodyPr>
          <a:lstStyle/>
          <a:p>
            <a:pPr>
              <a:spcAft>
                <a:spcPts val="667"/>
              </a:spcAft>
              <a:defRPr/>
            </a:pPr>
            <a:r>
              <a:rPr lang="en-US" altLang="en-US" sz="2333" dirty="0">
                <a:solidFill>
                  <a:schemeClr val="bg1"/>
                </a:solidFill>
                <a:latin typeface="Cambria" panose="02040503050406030204" pitchFamily="18" charset="0"/>
                <a:ea typeface="Cambria" panose="02040503050406030204" pitchFamily="18" charset="0"/>
              </a:rPr>
              <a:t>Department of Computer Science, Faculty of Science and Technology.</a:t>
            </a:r>
          </a:p>
          <a:p>
            <a:pPr>
              <a:spcAft>
                <a:spcPts val="667"/>
              </a:spcAft>
              <a:defRPr/>
            </a:pPr>
            <a:r>
              <a:rPr lang="en-US" sz="2333" b="1" dirty="0">
                <a:solidFill>
                  <a:schemeClr val="bg1"/>
                </a:solidFill>
                <a:latin typeface="Cambria" panose="02040503050406030204" pitchFamily="18" charset="0"/>
                <a:ea typeface="Cambria" panose="02040503050406030204" pitchFamily="18" charset="0"/>
              </a:rPr>
              <a:t>American International University-Bangladesh (AIUB)</a:t>
            </a:r>
            <a:endParaRPr lang="en-US" sz="2833" b="1" dirty="0">
              <a:solidFill>
                <a:schemeClr val="bg1"/>
              </a:solidFill>
              <a:latin typeface="Cambria" panose="02040503050406030204" pitchFamily="18" charset="0"/>
              <a:ea typeface="Cambria" panose="02040503050406030204" pitchFamily="18" charset="0"/>
            </a:endParaRPr>
          </a:p>
          <a:p>
            <a:pPr>
              <a:spcAft>
                <a:spcPts val="67"/>
              </a:spcAft>
              <a:defRPr/>
            </a:pPr>
            <a:endParaRPr lang="en-US" altLang="en-US" sz="2333" dirty="0">
              <a:solidFill>
                <a:schemeClr val="bg1"/>
              </a:solidFill>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B550BCBD-1341-4B8F-BC91-A65A584EFCC7}"/>
              </a:ext>
            </a:extLst>
          </p:cNvPr>
          <p:cNvSpPr txBox="1"/>
          <p:nvPr/>
        </p:nvSpPr>
        <p:spPr>
          <a:xfrm>
            <a:off x="363358" y="3813604"/>
            <a:ext cx="8839200" cy="38995290"/>
          </a:xfrm>
          <a:prstGeom prst="rect">
            <a:avLst/>
          </a:prstGeom>
          <a:noFill/>
        </p:spPr>
        <p:txBody>
          <a:bodyPr wrap="square" rtlCol="0">
            <a:spAutoFit/>
          </a:bodyPr>
          <a:lstStyle/>
          <a:p>
            <a:pPr marL="0" marR="0" lvl="0" indent="0" algn="just" defTabSz="457200" rtl="0" eaLnBrk="1" fontAlgn="auto" latinLnBrk="0" hangingPunct="1">
              <a:lnSpc>
                <a:spcPts val="3833"/>
              </a:lnSpc>
              <a:spcBef>
                <a:spcPts val="0"/>
              </a:spcBef>
              <a:spcAft>
                <a:spcPts val="1000"/>
              </a:spcAft>
              <a:buClrTx/>
              <a:buSzTx/>
              <a:buFontTx/>
              <a:buNone/>
              <a:tabLst/>
              <a:defRPr/>
            </a:pPr>
            <a:r>
              <a:rPr kumimoji="0" lang="en-US" sz="4000" b="1" i="0" u="none" strike="noStrike" kern="1200" cap="none" spc="0" normalizeH="0" baseline="0" noProof="0" dirty="0">
                <a:ln>
                  <a:noFill/>
                </a:ln>
                <a:solidFill>
                  <a:srgbClr val="005BBB"/>
                </a:solidFill>
                <a:effectLst/>
                <a:uLnTx/>
                <a:uFillTx/>
                <a:latin typeface="Aptos Display" panose="02110004020202020204"/>
                <a:ea typeface="+mn-ea"/>
                <a:cs typeface="+mn-cs"/>
              </a:rPr>
              <a:t>Introduction</a:t>
            </a:r>
          </a:p>
          <a:p>
            <a:pPr algn="just"/>
            <a:r>
              <a:rPr lang="en-GB" sz="3400" dirty="0">
                <a:latin typeface="Arial" panose="020B0604020202020204" pitchFamily="34" charset="0"/>
                <a:cs typeface="Arial" panose="020B0604020202020204" pitchFamily="34" charset="0"/>
              </a:rPr>
              <a:t>Differential diagnosis is a core component of clinical decision-making, involving the generation and prioritization of possible diseases based on a patient’s presenting symptoms [1]. Failure to consider alternative diagnoses contributes to medical errors, which remain one of the most critical patient-safety challenges worldwide [2]. Factors such as atypical presentations, cognitive overload, and limited time further increase diagnostic uncertainty in outpatient settings [3]. Machine learning (ML) and artificial intelligence (AI) have become central to this effort, as they can detect complex patterns in large clinical datasets and generate predictions from structured features without explicit programming [4], [5], [6]. ML models—including support vector machines, gradient-boosting methods, random forests, and deep learning architectures—have demonstrated promising diagnostic performance across various medical domains [7], [8]. Emerging large language models (LLMs) offer new opportunities to interpret structured and unstructured medical data and support diagnostic reasoning across multiple disease categories [9]. This motivates the development of a scalable DDx framework capable of handling diverse conditions while improving interpretability and clinical usability.</a:t>
            </a:r>
          </a:p>
          <a:p>
            <a:pPr algn="just"/>
            <a:endParaRPr lang="en-GB" sz="3400" dirty="0">
              <a:latin typeface="Arial" panose="020B0604020202020204" pitchFamily="34" charset="0"/>
              <a:cs typeface="Arial" panose="020B0604020202020204" pitchFamily="34" charset="0"/>
            </a:endParaRPr>
          </a:p>
          <a:p>
            <a:pPr algn="just"/>
            <a:r>
              <a:rPr lang="en-US" sz="4000" b="1" dirty="0">
                <a:solidFill>
                  <a:srgbClr val="005BBB"/>
                </a:solidFill>
                <a:latin typeface="Aptos Display" panose="02110004020202020204"/>
              </a:rPr>
              <a:t>Methodology</a:t>
            </a:r>
            <a:endParaRPr lang="en-GB" sz="4000" b="1" dirty="0">
              <a:solidFill>
                <a:srgbClr val="005BBB"/>
              </a:solidFill>
              <a:latin typeface="Arial" panose="020B0604020202020204" pitchFamily="34" charset="0"/>
              <a:cs typeface="Arial" panose="020B0604020202020204" pitchFamily="34" charset="0"/>
            </a:endParaRPr>
          </a:p>
          <a:p>
            <a:pPr algn="just"/>
            <a:r>
              <a:rPr lang="en-GB" sz="3400" dirty="0">
                <a:latin typeface="Arial" panose="020B0604020202020204" pitchFamily="34" charset="0"/>
                <a:cs typeface="Arial" panose="020B0604020202020204" pitchFamily="34" charset="0"/>
              </a:rPr>
              <a:t>We converted patient evidence tokens into sparse multi-hot vectors, encoded pathology labels, trained six modern ML models, and compared their Top-1/Top-3/Top-5 diagnostic accuracy on validation and test sets.</a:t>
            </a:r>
          </a:p>
          <a:p>
            <a:pPr marL="457200" indent="-457200" algn="just">
              <a:buFont typeface="Wingdings" panose="05000000000000000000" pitchFamily="2" charset="2"/>
              <a:buChar char="§"/>
            </a:pPr>
            <a:r>
              <a:rPr lang="en-US" sz="3400" dirty="0">
                <a:latin typeface="Arial" panose="020B0604020202020204" pitchFamily="34" charset="0"/>
                <a:cs typeface="Arial" panose="020B0604020202020204" pitchFamily="34" charset="0"/>
              </a:rPr>
              <a:t>Dataset containing synthetic patient records. Each patient includes evidence tokens, age, sex, and a pathology label. Loaded train, validation, and test splits from CSV files.</a:t>
            </a:r>
          </a:p>
          <a:p>
            <a:pPr marL="457200" indent="-457200" algn="just">
              <a:buFont typeface="Wingdings" panose="05000000000000000000" pitchFamily="2" charset="2"/>
              <a:buChar char="§"/>
            </a:pPr>
            <a:r>
              <a:rPr lang="en-US" sz="3400" dirty="0">
                <a:latin typeface="Arial" panose="020B0604020202020204" pitchFamily="34" charset="0"/>
                <a:cs typeface="Arial" panose="020B0604020202020204" pitchFamily="34" charset="0"/>
              </a:rPr>
              <a:t>Evidence lists stored as strings (e.g., "['E_48','E_53']") were converted into real Python lists. Using the training split, a MultiLabelBinarizer was fitted to extract all unique evidence. Each patient’s evidence list → converted into a multi-hot vector.</a:t>
            </a:r>
          </a:p>
          <a:p>
            <a:pPr marL="457200" indent="-457200" algn="just">
              <a:buFont typeface="Wingdings" panose="05000000000000000000" pitchFamily="2" charset="2"/>
              <a:buChar char="§"/>
            </a:pPr>
            <a:r>
              <a:rPr lang="en-US" sz="3400" dirty="0">
                <a:latin typeface="Arial" panose="020B0604020202020204" pitchFamily="34" charset="0"/>
                <a:cs typeface="Arial" panose="020B0604020202020204" pitchFamily="34" charset="0"/>
              </a:rPr>
              <a:t>Feature Engineering SEX encoded numerically (M = 1, F = 0).AGE missing values imputed using the median.</a:t>
            </a:r>
          </a:p>
          <a:p>
            <a:pPr marL="457200" indent="-457200" algn="just">
              <a:buFont typeface="Wingdings" panose="05000000000000000000" pitchFamily="2" charset="2"/>
              <a:buChar char="§"/>
            </a:pPr>
            <a:endParaRPr lang="en-US" sz="3400" dirty="0">
              <a:latin typeface="Arial" panose="020B0604020202020204" pitchFamily="34" charset="0"/>
              <a:cs typeface="Arial" panose="020B0604020202020204" pitchFamily="34" charset="0"/>
            </a:endParaRPr>
          </a:p>
          <a:p>
            <a:pPr marL="457200" indent="-457200" algn="just">
              <a:buFont typeface="Wingdings" panose="05000000000000000000" pitchFamily="2" charset="2"/>
              <a:buChar char="§"/>
            </a:pPr>
            <a:endParaRPr lang="en-US" sz="3400" dirty="0">
              <a:latin typeface="Arial" panose="020B0604020202020204" pitchFamily="34" charset="0"/>
              <a:cs typeface="Arial" panose="020B0604020202020204" pitchFamily="34" charset="0"/>
            </a:endParaRPr>
          </a:p>
          <a:p>
            <a:pPr marL="457200" indent="-457200" algn="just">
              <a:buFont typeface="Wingdings" panose="05000000000000000000" pitchFamily="2" charset="2"/>
              <a:buChar char="§"/>
            </a:pPr>
            <a:endParaRPr lang="en-US" sz="3400" dirty="0">
              <a:latin typeface="Arial" panose="020B0604020202020204" pitchFamily="34" charset="0"/>
              <a:cs typeface="Arial" panose="020B0604020202020204" pitchFamily="34" charset="0"/>
            </a:endParaRPr>
          </a:p>
          <a:p>
            <a:pPr marL="457200" indent="-457200" algn="just">
              <a:buFont typeface="Wingdings" panose="05000000000000000000" pitchFamily="2" charset="2"/>
              <a:buChar char="§"/>
            </a:pPr>
            <a:endParaRPr lang="en-US" sz="3400" dirty="0">
              <a:latin typeface="Arial" panose="020B0604020202020204" pitchFamily="34" charset="0"/>
              <a:cs typeface="Arial" panose="020B0604020202020204" pitchFamily="34" charset="0"/>
            </a:endParaRPr>
          </a:p>
          <a:p>
            <a:pPr marL="457200" indent="-457200" algn="just">
              <a:buFont typeface="Wingdings" panose="05000000000000000000" pitchFamily="2" charset="2"/>
              <a:buChar char="§"/>
            </a:pPr>
            <a:endParaRPr lang="en-US" sz="3400" dirty="0">
              <a:latin typeface="Arial" panose="020B0604020202020204" pitchFamily="34" charset="0"/>
              <a:cs typeface="Arial" panose="020B0604020202020204" pitchFamily="34" charset="0"/>
            </a:endParaRPr>
          </a:p>
          <a:p>
            <a:pPr marL="457200" indent="-457200" algn="just">
              <a:buFont typeface="Wingdings" panose="05000000000000000000" pitchFamily="2" charset="2"/>
              <a:buChar char="§"/>
            </a:pPr>
            <a:endParaRPr lang="en-US" sz="3400" dirty="0">
              <a:latin typeface="Arial" panose="020B0604020202020204" pitchFamily="34" charset="0"/>
              <a:cs typeface="Arial" panose="020B0604020202020204" pitchFamily="34" charset="0"/>
            </a:endParaRPr>
          </a:p>
          <a:p>
            <a:pPr marL="457200" indent="-457200" algn="just">
              <a:buFont typeface="Wingdings" panose="05000000000000000000" pitchFamily="2" charset="2"/>
              <a:buChar char="§"/>
            </a:pPr>
            <a:endParaRPr lang="en-US" sz="3400" dirty="0">
              <a:latin typeface="Arial" panose="020B0604020202020204" pitchFamily="34" charset="0"/>
              <a:cs typeface="Arial" panose="020B0604020202020204" pitchFamily="34" charset="0"/>
            </a:endParaRPr>
          </a:p>
          <a:p>
            <a:pPr marL="457200" indent="-457200" algn="just">
              <a:buFont typeface="Wingdings" panose="05000000000000000000" pitchFamily="2" charset="2"/>
              <a:buChar char="§"/>
            </a:pPr>
            <a:endParaRPr lang="en-US" sz="3400" dirty="0">
              <a:latin typeface="Arial" panose="020B0604020202020204" pitchFamily="34" charset="0"/>
              <a:cs typeface="Arial" panose="020B0604020202020204" pitchFamily="34" charset="0"/>
            </a:endParaRPr>
          </a:p>
          <a:p>
            <a:pPr marL="457200" indent="-457200" algn="just">
              <a:buFont typeface="Wingdings" panose="05000000000000000000" pitchFamily="2" charset="2"/>
              <a:buChar char="§"/>
            </a:pPr>
            <a:endParaRPr lang="en-US" sz="3400" dirty="0">
              <a:latin typeface="Arial" panose="020B0604020202020204" pitchFamily="34" charset="0"/>
              <a:cs typeface="Arial" panose="020B0604020202020204" pitchFamily="34" charset="0"/>
            </a:endParaRPr>
          </a:p>
          <a:p>
            <a:pPr marL="457200" indent="-457200" algn="just">
              <a:buFont typeface="Wingdings" panose="05000000000000000000" pitchFamily="2" charset="2"/>
              <a:buChar char="§"/>
            </a:pPr>
            <a:endParaRPr lang="en-US" sz="3400" dirty="0">
              <a:latin typeface="Arial" panose="020B0604020202020204" pitchFamily="34" charset="0"/>
              <a:cs typeface="Arial" panose="020B0604020202020204" pitchFamily="34" charset="0"/>
            </a:endParaRPr>
          </a:p>
          <a:p>
            <a:pPr algn="just"/>
            <a:endParaRPr lang="en-US" sz="3400" dirty="0">
              <a:latin typeface="Arial" panose="020B0604020202020204" pitchFamily="34" charset="0"/>
              <a:cs typeface="Arial" panose="020B0604020202020204" pitchFamily="34" charset="0"/>
            </a:endParaRPr>
          </a:p>
          <a:p>
            <a:pPr marL="457200" indent="-457200" algn="just">
              <a:buFont typeface="Wingdings" panose="05000000000000000000" pitchFamily="2" charset="2"/>
              <a:buChar char="§"/>
            </a:pPr>
            <a:endParaRPr lang="en-US" sz="3400" dirty="0">
              <a:latin typeface="Arial" panose="020B0604020202020204" pitchFamily="34" charset="0"/>
              <a:cs typeface="Arial" panose="020B0604020202020204" pitchFamily="34" charset="0"/>
            </a:endParaRPr>
          </a:p>
          <a:p>
            <a:pPr marL="457200" indent="-457200" algn="just">
              <a:buFont typeface="Wingdings" panose="05000000000000000000" pitchFamily="2" charset="2"/>
              <a:buChar char="§"/>
            </a:pPr>
            <a:endParaRPr lang="en-US" sz="3400" dirty="0">
              <a:latin typeface="Arial" panose="020B0604020202020204" pitchFamily="34" charset="0"/>
              <a:cs typeface="Arial" panose="020B0604020202020204" pitchFamily="34" charset="0"/>
            </a:endParaRPr>
          </a:p>
          <a:p>
            <a:pPr marL="457200" indent="-457200" algn="just">
              <a:buFont typeface="Wingdings" panose="05000000000000000000" pitchFamily="2" charset="2"/>
              <a:buChar char="§"/>
            </a:pPr>
            <a:endParaRPr lang="en-US" sz="3400" dirty="0">
              <a:latin typeface="Arial" panose="020B0604020202020204" pitchFamily="34" charset="0"/>
              <a:cs typeface="Arial" panose="020B0604020202020204" pitchFamily="34" charset="0"/>
            </a:endParaRPr>
          </a:p>
          <a:p>
            <a:pPr marL="457200" indent="-457200" algn="just">
              <a:buFont typeface="Wingdings" panose="05000000000000000000" pitchFamily="2" charset="2"/>
              <a:buChar char="§"/>
            </a:pPr>
            <a:r>
              <a:rPr lang="en-US" sz="3400" dirty="0">
                <a:latin typeface="Arial" panose="020B0604020202020204" pitchFamily="34" charset="0"/>
                <a:cs typeface="Arial" panose="020B0604020202020204" pitchFamily="34" charset="0"/>
              </a:rPr>
              <a:t>Feature Matrix Construction Final input feature vector per patient:[ Evidence multi-hot vector | AGE | SEX ] Created sparse matrices for efficient training. </a:t>
            </a:r>
            <a:r>
              <a:rPr lang="en-US" sz="3400" dirty="0" err="1">
                <a:latin typeface="Arial" panose="020B0604020202020204" pitchFamily="34" charset="0"/>
                <a:cs typeface="Arial" panose="020B0604020202020204" pitchFamily="34" charset="0"/>
              </a:rPr>
              <a:t>X_train</a:t>
            </a:r>
            <a:r>
              <a:rPr lang="en-US" sz="3400" dirty="0">
                <a:latin typeface="Arial" panose="020B0604020202020204" pitchFamily="34" charset="0"/>
                <a:cs typeface="Arial" panose="020B0604020202020204" pitchFamily="34" charset="0"/>
              </a:rPr>
              <a:t>, </a:t>
            </a:r>
            <a:r>
              <a:rPr lang="en-US" sz="3400" dirty="0" err="1">
                <a:latin typeface="Arial" panose="020B0604020202020204" pitchFamily="34" charset="0"/>
                <a:cs typeface="Arial" panose="020B0604020202020204" pitchFamily="34" charset="0"/>
              </a:rPr>
              <a:t>X_val</a:t>
            </a:r>
            <a:r>
              <a:rPr lang="en-US" sz="3400" dirty="0">
                <a:latin typeface="Arial" panose="020B0604020202020204" pitchFamily="34" charset="0"/>
                <a:cs typeface="Arial" panose="020B0604020202020204" pitchFamily="34" charset="0"/>
              </a:rPr>
              <a:t>, </a:t>
            </a:r>
            <a:r>
              <a:rPr lang="en-US" sz="3400" dirty="0" err="1">
                <a:latin typeface="Arial" panose="020B0604020202020204" pitchFamily="34" charset="0"/>
                <a:cs typeface="Arial" panose="020B0604020202020204" pitchFamily="34" charset="0"/>
              </a:rPr>
              <a:t>X_testLabels</a:t>
            </a:r>
            <a:r>
              <a:rPr lang="en-US" sz="3400" dirty="0">
                <a:latin typeface="Arial" panose="020B0604020202020204" pitchFamily="34" charset="0"/>
                <a:cs typeface="Arial" panose="020B0604020202020204" pitchFamily="34" charset="0"/>
              </a:rPr>
              <a:t> encoded using LabelEncoder → </a:t>
            </a:r>
            <a:r>
              <a:rPr lang="en-US" sz="3400" dirty="0" err="1">
                <a:latin typeface="Arial" panose="020B0604020202020204" pitchFamily="34" charset="0"/>
                <a:cs typeface="Arial" panose="020B0604020202020204" pitchFamily="34" charset="0"/>
              </a:rPr>
              <a:t>y_train</a:t>
            </a:r>
            <a:r>
              <a:rPr lang="en-US" sz="3400" dirty="0">
                <a:latin typeface="Arial" panose="020B0604020202020204" pitchFamily="34" charset="0"/>
                <a:cs typeface="Arial" panose="020B0604020202020204" pitchFamily="34" charset="0"/>
              </a:rPr>
              <a:t>, </a:t>
            </a:r>
            <a:r>
              <a:rPr lang="en-US" sz="3400" dirty="0" err="1">
                <a:latin typeface="Arial" panose="020B0604020202020204" pitchFamily="34" charset="0"/>
                <a:cs typeface="Arial" panose="020B0604020202020204" pitchFamily="34" charset="0"/>
              </a:rPr>
              <a:t>y_val</a:t>
            </a:r>
            <a:r>
              <a:rPr lang="en-US" sz="3400" dirty="0">
                <a:latin typeface="Arial" panose="020B0604020202020204" pitchFamily="34" charset="0"/>
                <a:cs typeface="Arial" panose="020B0604020202020204" pitchFamily="34" charset="0"/>
              </a:rPr>
              <a:t>, </a:t>
            </a:r>
            <a:r>
              <a:rPr lang="en-US" sz="3400" dirty="0" err="1">
                <a:latin typeface="Arial" panose="020B0604020202020204" pitchFamily="34" charset="0"/>
                <a:cs typeface="Arial" panose="020B0604020202020204" pitchFamily="34" charset="0"/>
              </a:rPr>
              <a:t>y_test</a:t>
            </a:r>
            <a:endParaRPr lang="en-US" sz="3400" dirty="0">
              <a:latin typeface="Arial" panose="020B0604020202020204" pitchFamily="34" charset="0"/>
              <a:cs typeface="Arial" panose="020B0604020202020204" pitchFamily="34" charset="0"/>
            </a:endParaRPr>
          </a:p>
          <a:p>
            <a:pPr marL="457200" indent="-457200" algn="just">
              <a:buFont typeface="Wingdings" panose="05000000000000000000" pitchFamily="2" charset="2"/>
              <a:buChar char="§"/>
            </a:pPr>
            <a:endParaRPr lang="en-US" sz="34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F38AFDF7-C4DF-4645-961E-3AFB77C763FD}"/>
              </a:ext>
            </a:extLst>
          </p:cNvPr>
          <p:cNvSpPr txBox="1"/>
          <p:nvPr/>
        </p:nvSpPr>
        <p:spPr>
          <a:xfrm>
            <a:off x="18193548" y="3813604"/>
            <a:ext cx="8839200" cy="38102738"/>
          </a:xfrm>
          <a:prstGeom prst="rect">
            <a:avLst/>
          </a:prstGeom>
          <a:noFill/>
        </p:spPr>
        <p:txBody>
          <a:bodyPr wrap="square" rtlCol="0">
            <a:spAutoFit/>
          </a:bodyPr>
          <a:lstStyle/>
          <a:p>
            <a:pPr marL="0" marR="0" lvl="0" indent="0" algn="just" defTabSz="457200" rtl="0" eaLnBrk="1" fontAlgn="auto" latinLnBrk="0" hangingPunct="1">
              <a:lnSpc>
                <a:spcPts val="3833"/>
              </a:lnSpc>
              <a:spcBef>
                <a:spcPts val="0"/>
              </a:spcBef>
              <a:spcAft>
                <a:spcPts val="1000"/>
              </a:spcAft>
              <a:buClrTx/>
              <a:buSzTx/>
              <a:buFontTx/>
              <a:buNone/>
              <a:tabLst/>
              <a:defRPr/>
            </a:pPr>
            <a:r>
              <a:rPr lang="en-GB" sz="3400" dirty="0" err="1">
                <a:latin typeface="Arial" panose="020B0604020202020204" pitchFamily="34" charset="0"/>
                <a:cs typeface="Arial" panose="020B0604020202020204" pitchFamily="34" charset="0"/>
              </a:rPr>
              <a:t>LightGBM</a:t>
            </a:r>
            <a:r>
              <a:rPr lang="en-GB" sz="3400" dirty="0">
                <a:latin typeface="Arial" panose="020B0604020202020204" pitchFamily="34" charset="0"/>
                <a:cs typeface="Arial" panose="020B0604020202020204" pitchFamily="34" charset="0"/>
              </a:rPr>
              <a:t> was the only model that performed poorly, likely due to sensitivity to sparse input format or the need for hyperparameter tuning.</a:t>
            </a:r>
          </a:p>
          <a:p>
            <a:pPr marL="0" marR="0" lvl="0" indent="0" algn="just" defTabSz="457200" rtl="0" eaLnBrk="1" fontAlgn="auto" latinLnBrk="0" hangingPunct="1">
              <a:lnSpc>
                <a:spcPts val="3833"/>
              </a:lnSpc>
              <a:spcBef>
                <a:spcPts val="0"/>
              </a:spcBef>
              <a:spcAft>
                <a:spcPts val="1000"/>
              </a:spcAft>
              <a:buClrTx/>
              <a:buSzTx/>
              <a:buFontTx/>
              <a:buNone/>
              <a:tabLst/>
              <a:defRPr/>
            </a:pPr>
            <a:endParaRPr lang="en-US" sz="4000" b="1" dirty="0">
              <a:solidFill>
                <a:srgbClr val="005BBB"/>
              </a:solidFill>
              <a:latin typeface="Aptos Display" panose="02110004020202020204"/>
            </a:endParaRPr>
          </a:p>
          <a:p>
            <a:pPr marL="0" marR="0" lvl="0" indent="0" algn="just" defTabSz="457200" rtl="0" eaLnBrk="1" fontAlgn="auto" latinLnBrk="0" hangingPunct="1">
              <a:lnSpc>
                <a:spcPts val="3833"/>
              </a:lnSpc>
              <a:spcBef>
                <a:spcPts val="0"/>
              </a:spcBef>
              <a:spcAft>
                <a:spcPts val="1000"/>
              </a:spcAft>
              <a:buClrTx/>
              <a:buSzTx/>
              <a:buFontTx/>
              <a:buNone/>
              <a:tabLst/>
              <a:defRPr/>
            </a:pPr>
            <a:r>
              <a:rPr lang="en-US" sz="4000" b="1" dirty="0">
                <a:solidFill>
                  <a:srgbClr val="005BBB"/>
                </a:solidFill>
                <a:latin typeface="Aptos Display" panose="02110004020202020204"/>
              </a:rPr>
              <a:t>Conclusion</a:t>
            </a:r>
          </a:p>
          <a:p>
            <a:pPr marL="0" marR="0" lvl="0" indent="0" algn="just" defTabSz="457200" rtl="0" eaLnBrk="1" fontAlgn="auto" latinLnBrk="0" hangingPunct="1">
              <a:lnSpc>
                <a:spcPts val="3833"/>
              </a:lnSpc>
              <a:spcBef>
                <a:spcPts val="0"/>
              </a:spcBef>
              <a:spcAft>
                <a:spcPts val="1000"/>
              </a:spcAft>
              <a:buClrTx/>
              <a:buSzTx/>
              <a:buFontTx/>
              <a:buNone/>
              <a:tabLst/>
              <a:defRPr/>
            </a:pPr>
            <a:r>
              <a:rPr lang="en-GB" sz="3400" dirty="0">
                <a:latin typeface="Arial" panose="020B0604020202020204" pitchFamily="34" charset="0"/>
                <a:cs typeface="Arial" panose="020B0604020202020204" pitchFamily="34" charset="0"/>
              </a:rPr>
              <a:t>Unlike prior studies focused on binary or small-class diagnostic tasks, this work demonstrates a scalable machine-learning framework.</a:t>
            </a:r>
          </a:p>
          <a:p>
            <a:pPr marL="457200" marR="0" lvl="0" indent="-457200" algn="just" defTabSz="457200" rtl="0" eaLnBrk="1" fontAlgn="auto" latinLnBrk="0" hangingPunct="1">
              <a:lnSpc>
                <a:spcPts val="3833"/>
              </a:lnSpc>
              <a:spcBef>
                <a:spcPts val="0"/>
              </a:spcBef>
              <a:spcAft>
                <a:spcPts val="1000"/>
              </a:spcAft>
              <a:buClrTx/>
              <a:buSzTx/>
              <a:buFont typeface="Wingdings" panose="05000000000000000000" pitchFamily="2" charset="2"/>
              <a:buChar char="§"/>
              <a:tabLst/>
              <a:defRPr/>
            </a:pPr>
            <a:r>
              <a:rPr lang="en-GB" sz="3400" dirty="0">
                <a:latin typeface="Arial" panose="020B0604020202020204" pitchFamily="34" charset="0"/>
                <a:cs typeface="Arial" panose="020B0604020202020204" pitchFamily="34" charset="0"/>
              </a:rPr>
              <a:t>This framework is capable of generating differential diagnosis across 49 distinct pathologies.</a:t>
            </a:r>
          </a:p>
          <a:p>
            <a:pPr marL="457200" marR="0" lvl="0" indent="-457200" algn="just" defTabSz="457200" rtl="0" eaLnBrk="1" fontAlgn="auto" latinLnBrk="0" hangingPunct="1">
              <a:lnSpc>
                <a:spcPts val="3833"/>
              </a:lnSpc>
              <a:spcBef>
                <a:spcPts val="0"/>
              </a:spcBef>
              <a:spcAft>
                <a:spcPts val="1000"/>
              </a:spcAft>
              <a:buClrTx/>
              <a:buSzTx/>
              <a:buFont typeface="Wingdings" panose="05000000000000000000" pitchFamily="2" charset="2"/>
              <a:buChar char="§"/>
              <a:tabLst/>
              <a:defRPr/>
            </a:pPr>
            <a:r>
              <a:rPr lang="en-GB" sz="3400" dirty="0">
                <a:latin typeface="Arial" panose="020B0604020202020204" pitchFamily="34" charset="0"/>
                <a:cs typeface="Arial" panose="020B0604020202020204" pitchFamily="34" charset="0"/>
              </a:rPr>
              <a:t>The study incorporates human-readable evidence from metadata.</a:t>
            </a:r>
          </a:p>
          <a:p>
            <a:pPr marR="0" lvl="0" algn="just" defTabSz="457200" rtl="0" eaLnBrk="1" fontAlgn="auto" latinLnBrk="0" hangingPunct="1">
              <a:lnSpc>
                <a:spcPts val="3833"/>
              </a:lnSpc>
              <a:spcBef>
                <a:spcPts val="0"/>
              </a:spcBef>
              <a:spcAft>
                <a:spcPts val="1000"/>
              </a:spcAft>
              <a:buClrTx/>
              <a:buSzTx/>
              <a:tabLst/>
              <a:defRPr/>
            </a:pPr>
            <a:r>
              <a:rPr lang="en-GB" sz="3400" dirty="0">
                <a:latin typeface="Arial" panose="020B0604020202020204" pitchFamily="34" charset="0"/>
                <a:cs typeface="Arial" panose="020B0604020202020204" pitchFamily="34" charset="0"/>
              </a:rPr>
              <a:t>Future directions include developing AI-driven clinical chatbots that leverage these human-interpretable evidences and incorporating LLM-based reasoning to build explainable, conversational diagnostic agents.</a:t>
            </a:r>
          </a:p>
          <a:p>
            <a:pPr marR="0" lvl="0" algn="just" defTabSz="457200" rtl="0" eaLnBrk="1" fontAlgn="auto" latinLnBrk="0" hangingPunct="1">
              <a:lnSpc>
                <a:spcPts val="3833"/>
              </a:lnSpc>
              <a:spcBef>
                <a:spcPts val="0"/>
              </a:spcBef>
              <a:spcAft>
                <a:spcPts val="1000"/>
              </a:spcAft>
              <a:buClrTx/>
              <a:buSzTx/>
              <a:tabLst/>
              <a:defRPr/>
            </a:pPr>
            <a:endParaRPr lang="en-US" sz="3400" dirty="0">
              <a:solidFill>
                <a:srgbClr val="005BBB"/>
              </a:solidFill>
              <a:latin typeface="Arial" panose="020B0604020202020204" pitchFamily="34" charset="0"/>
              <a:cs typeface="Arial" panose="020B0604020202020204" pitchFamily="34" charset="0"/>
            </a:endParaRPr>
          </a:p>
          <a:p>
            <a:pPr marL="0" marR="0" lvl="0" indent="0" algn="just" defTabSz="457200" rtl="0" eaLnBrk="1" fontAlgn="auto" latinLnBrk="0" hangingPunct="1">
              <a:lnSpc>
                <a:spcPts val="3833"/>
              </a:lnSpc>
              <a:spcBef>
                <a:spcPts val="0"/>
              </a:spcBef>
              <a:spcAft>
                <a:spcPts val="1000"/>
              </a:spcAft>
              <a:buClrTx/>
              <a:buSzTx/>
              <a:buFontTx/>
              <a:buNone/>
              <a:tabLst/>
              <a:defRPr/>
            </a:pPr>
            <a:r>
              <a:rPr lang="en-US" sz="4000" b="1" dirty="0">
                <a:solidFill>
                  <a:srgbClr val="005BBB"/>
                </a:solidFill>
                <a:latin typeface="Aptos Display" panose="02110004020202020204"/>
              </a:rPr>
              <a:t>References</a:t>
            </a:r>
          </a:p>
          <a:p>
            <a:pPr algn="just">
              <a:lnSpc>
                <a:spcPts val="3167"/>
              </a:lnSpc>
              <a:buClr>
                <a:schemeClr val="tx2"/>
              </a:buClr>
              <a:buFont typeface="+mj-lt"/>
              <a:buAutoNum type="arabicPeriod"/>
              <a:defRPr/>
            </a:pPr>
            <a:r>
              <a:rPr lang="en-GB" sz="2400" dirty="0">
                <a:latin typeface="Arial" charset="0"/>
                <a:ea typeface="Arial" charset="0"/>
                <a:cs typeface="Arial" charset="0"/>
              </a:rPr>
              <a:t>Leeds, F. S., </a:t>
            </a:r>
            <a:r>
              <a:rPr lang="en-GB" sz="2400" dirty="0" err="1">
                <a:latin typeface="Arial" charset="0"/>
                <a:ea typeface="Arial" charset="0"/>
                <a:cs typeface="Arial" charset="0"/>
              </a:rPr>
              <a:t>Atwa</a:t>
            </a:r>
            <a:r>
              <a:rPr lang="en-GB" sz="2400" dirty="0">
                <a:latin typeface="Arial" charset="0"/>
                <a:ea typeface="Arial" charset="0"/>
                <a:cs typeface="Arial" charset="0"/>
              </a:rPr>
              <a:t>, K. M., Cook, A. M., Conway, K. A., &amp; Crawford, T. N. (2020). Teaching heuristics and mnemonics to improve generation of differential diagnoses. Medical Education Online, 25(1). </a:t>
            </a:r>
            <a:r>
              <a:rPr lang="en-GB" sz="2400" dirty="0">
                <a:latin typeface="Arial" charset="0"/>
                <a:ea typeface="Arial" charset="0"/>
                <a:cs typeface="Arial" charset="0"/>
                <a:hlinkClick r:id="rId3"/>
              </a:rPr>
              <a:t>https://doi.org/10.1080/10872981.2020.1742967</a:t>
            </a:r>
            <a:endParaRPr lang="en-GB" sz="2400" dirty="0">
              <a:latin typeface="Arial" charset="0"/>
              <a:ea typeface="Arial" charset="0"/>
              <a:cs typeface="Arial" charset="0"/>
            </a:endParaRPr>
          </a:p>
          <a:p>
            <a:pPr algn="just">
              <a:lnSpc>
                <a:spcPts val="3167"/>
              </a:lnSpc>
              <a:buClr>
                <a:schemeClr val="tx2"/>
              </a:buClr>
              <a:buFont typeface="+mj-lt"/>
              <a:buAutoNum type="arabicPeriod"/>
              <a:defRPr/>
            </a:pPr>
            <a:r>
              <a:rPr lang="en-GB" sz="2400" dirty="0">
                <a:latin typeface="Arial" panose="020B0604020202020204" pitchFamily="34" charset="0"/>
                <a:cs typeface="Arial" panose="020B0604020202020204" pitchFamily="34" charset="0"/>
              </a:rPr>
              <a:t>Miyachi, Y., Ishii, O., &amp; </a:t>
            </a:r>
            <a:r>
              <a:rPr lang="en-GB" sz="2400" dirty="0" err="1">
                <a:latin typeface="Arial" panose="020B0604020202020204" pitchFamily="34" charset="0"/>
                <a:cs typeface="Arial" panose="020B0604020202020204" pitchFamily="34" charset="0"/>
              </a:rPr>
              <a:t>Torigoe</a:t>
            </a:r>
            <a:r>
              <a:rPr lang="en-GB" sz="2400" dirty="0">
                <a:latin typeface="Arial" panose="020B0604020202020204" pitchFamily="34" charset="0"/>
                <a:cs typeface="Arial" panose="020B0604020202020204" pitchFamily="34" charset="0"/>
              </a:rPr>
              <a:t>, K. (2023). Design, implementation, and evaluation of the computer-aided clinical decision support system based on learning-to-rank: collaboration between physicians and machine learning in the differential diagnosis process. BMC medical informatics and decision making, 23(1), 26. </a:t>
            </a:r>
            <a:r>
              <a:rPr lang="en-GB" sz="2400" dirty="0">
                <a:latin typeface="Arial" panose="020B0604020202020204" pitchFamily="34" charset="0"/>
                <a:cs typeface="Arial" panose="020B0604020202020204" pitchFamily="34" charset="0"/>
                <a:hlinkClick r:id="rId4"/>
              </a:rPr>
              <a:t>https://doi.org/10.1186/s12911-023-02123-5</a:t>
            </a:r>
            <a:endParaRPr lang="en-GB" sz="2400" dirty="0">
              <a:latin typeface="Arial" panose="020B0604020202020204" pitchFamily="34" charset="0"/>
              <a:cs typeface="Arial" panose="020B0604020202020204" pitchFamily="34" charset="0"/>
            </a:endParaRPr>
          </a:p>
          <a:p>
            <a:pPr algn="just">
              <a:lnSpc>
                <a:spcPts val="3167"/>
              </a:lnSpc>
              <a:buClr>
                <a:schemeClr val="tx2"/>
              </a:buClr>
              <a:buFont typeface="+mj-lt"/>
              <a:buAutoNum type="arabicPeriod"/>
              <a:defRPr/>
            </a:pPr>
            <a:r>
              <a:rPr lang="en-GB" sz="2400" dirty="0">
                <a:latin typeface="Arial" panose="020B0604020202020204" pitchFamily="34" charset="0"/>
                <a:cs typeface="Arial" panose="020B0604020202020204" pitchFamily="34" charset="0"/>
              </a:rPr>
              <a:t> 13 Harada, Y., </a:t>
            </a:r>
            <a:r>
              <a:rPr lang="en-GB" sz="2400" dirty="0" err="1">
                <a:latin typeface="Arial" panose="020B0604020202020204" pitchFamily="34" charset="0"/>
                <a:cs typeface="Arial" panose="020B0604020202020204" pitchFamily="34" charset="0"/>
              </a:rPr>
              <a:t>Katsukura</a:t>
            </a:r>
            <a:r>
              <a:rPr lang="en-GB" sz="2400" dirty="0">
                <a:latin typeface="Arial" panose="020B0604020202020204" pitchFamily="34" charset="0"/>
                <a:cs typeface="Arial" panose="020B0604020202020204" pitchFamily="34" charset="0"/>
              </a:rPr>
              <a:t>, S., Kawamura, R., &amp; Shimizu, T. (2021). Efficacy of Artificial-Intelligence-Driven Differential-Diagnosis List on the Diagnostic Accuracy of Physicians: An Open-Label Randomized Controlled Study. International Journal of Environmental Research and Public Health, 18(4), 2086. </a:t>
            </a:r>
            <a:r>
              <a:rPr lang="en-GB" sz="2400" dirty="0">
                <a:latin typeface="Arial" panose="020B0604020202020204" pitchFamily="34" charset="0"/>
                <a:cs typeface="Arial" panose="020B0604020202020204" pitchFamily="34" charset="0"/>
                <a:hlinkClick r:id="rId5"/>
              </a:rPr>
              <a:t>https://doi.org/10.3390/ijerph18042086</a:t>
            </a:r>
            <a:endParaRPr lang="en-GB" sz="2400" dirty="0">
              <a:latin typeface="Arial" panose="020B0604020202020204" pitchFamily="34" charset="0"/>
              <a:cs typeface="Arial" panose="020B0604020202020204" pitchFamily="34" charset="0"/>
            </a:endParaRPr>
          </a:p>
          <a:p>
            <a:pPr algn="just">
              <a:lnSpc>
                <a:spcPts val="3167"/>
              </a:lnSpc>
              <a:buClr>
                <a:schemeClr val="tx2"/>
              </a:buClr>
              <a:buFont typeface="+mj-lt"/>
              <a:buAutoNum type="arabicPeriod"/>
              <a:defRPr/>
            </a:pPr>
            <a:r>
              <a:rPr lang="en-GB" sz="2400" dirty="0">
                <a:latin typeface="Arial" panose="020B0604020202020204" pitchFamily="34" charset="0"/>
                <a:cs typeface="Arial" panose="020B0604020202020204" pitchFamily="34" charset="0"/>
              </a:rPr>
              <a:t>Cao, S., Yang, S., Chen, B., Chen, X., Fu, X., &amp; Tang, S. (2024). Establishing a differential diagnosis model between primary membranous nephropathy and non-primary membranous nephropathy by machine learning algorithms. Renal failure, 46(2), 2380752. </a:t>
            </a:r>
            <a:r>
              <a:rPr lang="en-GB" sz="2400" dirty="0">
                <a:latin typeface="Arial" panose="020B0604020202020204" pitchFamily="34" charset="0"/>
                <a:cs typeface="Arial" panose="020B0604020202020204" pitchFamily="34" charset="0"/>
                <a:hlinkClick r:id="rId6"/>
              </a:rPr>
              <a:t>https://doi.org/10.1080/0886022X.2024.2380752</a:t>
            </a:r>
            <a:endParaRPr lang="en-GB" sz="2400" dirty="0">
              <a:latin typeface="Arial" panose="020B0604020202020204" pitchFamily="34" charset="0"/>
              <a:cs typeface="Arial" panose="020B0604020202020204" pitchFamily="34" charset="0"/>
            </a:endParaRPr>
          </a:p>
          <a:p>
            <a:pPr algn="just">
              <a:lnSpc>
                <a:spcPts val="3167"/>
              </a:lnSpc>
              <a:buClr>
                <a:schemeClr val="tx2"/>
              </a:buClr>
              <a:buFont typeface="+mj-lt"/>
              <a:buAutoNum type="arabicPeriod"/>
              <a:defRPr/>
            </a:pPr>
            <a:r>
              <a:rPr lang="en-GB" sz="2400" dirty="0">
                <a:latin typeface="Arial" panose="020B0604020202020204" pitchFamily="34" charset="0"/>
                <a:cs typeface="Arial" panose="020B0604020202020204" pitchFamily="34" charset="0"/>
              </a:rPr>
              <a:t> 14 </a:t>
            </a:r>
            <a:r>
              <a:rPr lang="en-GB" sz="2400" dirty="0" err="1">
                <a:latin typeface="Arial" panose="020B0604020202020204" pitchFamily="34" charset="0"/>
                <a:cs typeface="Arial" panose="020B0604020202020204" pitchFamily="34" charset="0"/>
              </a:rPr>
              <a:t>Cau</a:t>
            </a:r>
            <a:r>
              <a:rPr lang="en-GB" sz="2400" dirty="0">
                <a:latin typeface="Arial" panose="020B0604020202020204" pitchFamily="34" charset="0"/>
                <a:cs typeface="Arial" panose="020B0604020202020204" pitchFamily="34" charset="0"/>
              </a:rPr>
              <a:t>, R., </a:t>
            </a:r>
            <a:r>
              <a:rPr lang="en-GB" sz="2400" dirty="0" err="1">
                <a:latin typeface="Arial" panose="020B0604020202020204" pitchFamily="34" charset="0"/>
                <a:cs typeface="Arial" panose="020B0604020202020204" pitchFamily="34" charset="0"/>
              </a:rPr>
              <a:t>Pisu</a:t>
            </a:r>
            <a:r>
              <a:rPr lang="en-GB" sz="2400" dirty="0">
                <a:latin typeface="Arial" panose="020B0604020202020204" pitchFamily="34" charset="0"/>
                <a:cs typeface="Arial" panose="020B0604020202020204" pitchFamily="34" charset="0"/>
              </a:rPr>
              <a:t>, F., Suri, J. S., </a:t>
            </a:r>
            <a:r>
              <a:rPr lang="en-GB" sz="2400" dirty="0" err="1">
                <a:latin typeface="Arial" panose="020B0604020202020204" pitchFamily="34" charset="0"/>
                <a:cs typeface="Arial" panose="020B0604020202020204" pitchFamily="34" charset="0"/>
              </a:rPr>
              <a:t>Montisci</a:t>
            </a:r>
            <a:r>
              <a:rPr lang="en-GB" sz="2400" dirty="0">
                <a:latin typeface="Arial" panose="020B0604020202020204" pitchFamily="34" charset="0"/>
                <a:cs typeface="Arial" panose="020B0604020202020204" pitchFamily="34" charset="0"/>
              </a:rPr>
              <a:t>, R., </a:t>
            </a:r>
            <a:r>
              <a:rPr lang="en-GB" sz="2400" dirty="0" err="1">
                <a:latin typeface="Arial" panose="020B0604020202020204" pitchFamily="34" charset="0"/>
                <a:cs typeface="Arial" panose="020B0604020202020204" pitchFamily="34" charset="0"/>
              </a:rPr>
              <a:t>Gatti</a:t>
            </a:r>
            <a:r>
              <a:rPr lang="en-GB" sz="2400" dirty="0">
                <a:latin typeface="Arial" panose="020B0604020202020204" pitchFamily="34" charset="0"/>
                <a:cs typeface="Arial" panose="020B0604020202020204" pitchFamily="34" charset="0"/>
              </a:rPr>
              <a:t>, M., </a:t>
            </a:r>
            <a:r>
              <a:rPr lang="en-GB" sz="2400" dirty="0" err="1">
                <a:latin typeface="Arial" panose="020B0604020202020204" pitchFamily="34" charset="0"/>
                <a:cs typeface="Arial" panose="020B0604020202020204" pitchFamily="34" charset="0"/>
              </a:rPr>
              <a:t>Mannelli</a:t>
            </a:r>
            <a:r>
              <a:rPr lang="en-GB" sz="2400" dirty="0">
                <a:latin typeface="Arial" panose="020B0604020202020204" pitchFamily="34" charset="0"/>
                <a:cs typeface="Arial" panose="020B0604020202020204" pitchFamily="34" charset="0"/>
              </a:rPr>
              <a:t>, L., Gong, X., &amp; Saba, L. (2024). Artificial Intelligence in the Differential Diagnosis of Cardiomyopathy Phenotypes. Diagnostics, 14(2), 156. </a:t>
            </a:r>
            <a:r>
              <a:rPr lang="en-GB" sz="2400" dirty="0">
                <a:latin typeface="Arial" panose="020B0604020202020204" pitchFamily="34" charset="0"/>
                <a:cs typeface="Arial" panose="020B0604020202020204" pitchFamily="34" charset="0"/>
                <a:hlinkClick r:id="rId7"/>
              </a:rPr>
              <a:t>https://doi.org/10.3390/diagnostics14020156</a:t>
            </a:r>
            <a:endParaRPr lang="en-GB" sz="2400" dirty="0">
              <a:latin typeface="Arial" panose="020B0604020202020204" pitchFamily="34" charset="0"/>
              <a:cs typeface="Arial" panose="020B0604020202020204" pitchFamily="34" charset="0"/>
            </a:endParaRPr>
          </a:p>
          <a:p>
            <a:pPr algn="just">
              <a:lnSpc>
                <a:spcPts val="3167"/>
              </a:lnSpc>
              <a:buClr>
                <a:schemeClr val="tx2"/>
              </a:buClr>
              <a:buFont typeface="+mj-lt"/>
              <a:buAutoNum type="arabicPeriod"/>
              <a:defRPr/>
            </a:pPr>
            <a:r>
              <a:rPr lang="en-GB" sz="2400" dirty="0">
                <a:latin typeface="Arial" panose="020B0604020202020204" pitchFamily="34" charset="0"/>
                <a:cs typeface="Arial" panose="020B0604020202020204" pitchFamily="34" charset="0"/>
              </a:rPr>
              <a:t>16.	Ferrara, M., </a:t>
            </a:r>
            <a:r>
              <a:rPr lang="en-GB" sz="2400" dirty="0" err="1">
                <a:latin typeface="Arial" panose="020B0604020202020204" pitchFamily="34" charset="0"/>
                <a:cs typeface="Arial" panose="020B0604020202020204" pitchFamily="34" charset="0"/>
              </a:rPr>
              <a:t>Franchini</a:t>
            </a:r>
            <a:r>
              <a:rPr lang="en-GB" sz="2400" dirty="0">
                <a:latin typeface="Arial" panose="020B0604020202020204" pitchFamily="34" charset="0"/>
                <a:cs typeface="Arial" panose="020B0604020202020204" pitchFamily="34" charset="0"/>
              </a:rPr>
              <a:t>, G., Funaro, M., </a:t>
            </a:r>
            <a:r>
              <a:rPr lang="en-GB" sz="2400" dirty="0" err="1">
                <a:latin typeface="Arial" panose="020B0604020202020204" pitchFamily="34" charset="0"/>
                <a:cs typeface="Arial" panose="020B0604020202020204" pitchFamily="34" charset="0"/>
              </a:rPr>
              <a:t>Cutroni</a:t>
            </a:r>
            <a:r>
              <a:rPr lang="en-GB" sz="2400" dirty="0">
                <a:latin typeface="Arial" panose="020B0604020202020204" pitchFamily="34" charset="0"/>
                <a:cs typeface="Arial" panose="020B0604020202020204" pitchFamily="34" charset="0"/>
              </a:rPr>
              <a:t>, M., Valier, B., </a:t>
            </a:r>
            <a:r>
              <a:rPr lang="en-GB" sz="2400" dirty="0" err="1">
                <a:latin typeface="Arial" panose="020B0604020202020204" pitchFamily="34" charset="0"/>
                <a:cs typeface="Arial" panose="020B0604020202020204" pitchFamily="34" charset="0"/>
              </a:rPr>
              <a:t>Toffanin</a:t>
            </a:r>
            <a:r>
              <a:rPr lang="en-GB" sz="2400" dirty="0">
                <a:latin typeface="Arial" panose="020B0604020202020204" pitchFamily="34" charset="0"/>
                <a:cs typeface="Arial" panose="020B0604020202020204" pitchFamily="34" charset="0"/>
              </a:rPr>
              <a:t>, T., ... &amp; Grassi, L. (2022). Machine Learning and Non-Affective Psychosis: identification, differential diagnosis, and treatment. Current Psychiatry Reports, 24(12), 925-936.</a:t>
            </a:r>
          </a:p>
          <a:p>
            <a:pPr algn="just">
              <a:lnSpc>
                <a:spcPts val="3167"/>
              </a:lnSpc>
              <a:buClr>
                <a:schemeClr val="tx2"/>
              </a:buClr>
              <a:buFont typeface="+mj-lt"/>
              <a:buAutoNum type="arabicPeriod"/>
              <a:defRPr/>
            </a:pPr>
            <a:r>
              <a:rPr lang="en-GB" sz="2400" dirty="0">
                <a:latin typeface="Arial" panose="020B0604020202020204" pitchFamily="34" charset="0"/>
                <a:cs typeface="Arial" panose="020B0604020202020204" pitchFamily="34" charset="0"/>
              </a:rPr>
              <a:t> 12.	Cha, D., </a:t>
            </a:r>
            <a:r>
              <a:rPr lang="en-GB" sz="2400" dirty="0" err="1">
                <a:latin typeface="Arial" panose="020B0604020202020204" pitchFamily="34" charset="0"/>
                <a:cs typeface="Arial" panose="020B0604020202020204" pitchFamily="34" charset="0"/>
              </a:rPr>
              <a:t>Pae</a:t>
            </a:r>
            <a:r>
              <a:rPr lang="en-GB" sz="2400" dirty="0">
                <a:latin typeface="Arial" panose="020B0604020202020204" pitchFamily="34" charset="0"/>
                <a:cs typeface="Arial" panose="020B0604020202020204" pitchFamily="34" charset="0"/>
              </a:rPr>
              <a:t>, C., Lee, S. A., Na, G., </a:t>
            </a:r>
            <a:r>
              <a:rPr lang="en-GB" sz="2400" dirty="0" err="1">
                <a:latin typeface="Arial" panose="020B0604020202020204" pitchFamily="34" charset="0"/>
                <a:cs typeface="Arial" panose="020B0604020202020204" pitchFamily="34" charset="0"/>
              </a:rPr>
              <a:t>Hur</a:t>
            </a:r>
            <a:r>
              <a:rPr lang="en-GB" sz="2400" dirty="0">
                <a:latin typeface="Arial" panose="020B0604020202020204" pitchFamily="34" charset="0"/>
                <a:cs typeface="Arial" panose="020B0604020202020204" pitchFamily="34" charset="0"/>
              </a:rPr>
              <a:t>, Y. K., Lee, H. Y., ... &amp; Park, H. J. (2021). Differential biases and variabilities of deep learning–based artificial intelligence and human experts in clinical diagnosis: Retrospective cohort and survey study. JMIR Medical Informatics, 9(12), e33049.</a:t>
            </a:r>
          </a:p>
          <a:p>
            <a:pPr algn="just">
              <a:lnSpc>
                <a:spcPts val="3167"/>
              </a:lnSpc>
              <a:buClr>
                <a:schemeClr val="tx2"/>
              </a:buClr>
              <a:buFont typeface="+mj-lt"/>
              <a:buAutoNum type="arabicPeriod"/>
              <a:defRPr/>
            </a:pPr>
            <a:r>
              <a:rPr lang="en-GB" sz="2400" dirty="0">
                <a:latin typeface="Arial" panose="020B0604020202020204" pitchFamily="34" charset="0"/>
                <a:cs typeface="Arial" panose="020B0604020202020204" pitchFamily="34" charset="0"/>
              </a:rPr>
              <a:t> 4.	</a:t>
            </a:r>
            <a:r>
              <a:rPr lang="en-GB" sz="2400" dirty="0" err="1">
                <a:latin typeface="Arial" panose="020B0604020202020204" pitchFamily="34" charset="0"/>
                <a:cs typeface="Arial" panose="020B0604020202020204" pitchFamily="34" charset="0"/>
              </a:rPr>
              <a:t>Jeong</a:t>
            </a:r>
            <a:r>
              <a:rPr lang="en-GB" sz="2400" dirty="0">
                <a:latin typeface="Arial" panose="020B0604020202020204" pitchFamily="34" charset="0"/>
                <a:cs typeface="Arial" panose="020B0604020202020204" pitchFamily="34" charset="0"/>
              </a:rPr>
              <a:t>, Y. S., Jeon, M., Park, J. H., Kim, M. C., Lee, E., Park, S. Y., Lee, Y. M., Choi, S., Park, S. Y., Park, K. H., Kim, S. H., Jeon, M. H., Choo, E. J., Kim, T. H., Lee, M. S., &amp; Kim, T. (2021). Machine-Learning-Based Approach to Differential Diagnosis in Tuberculous and Viral Meningitis. Infection &amp; chemotherapy, 53(1), 53–62. </a:t>
            </a:r>
            <a:r>
              <a:rPr lang="en-GB" sz="2400" dirty="0">
                <a:latin typeface="Arial" panose="020B0604020202020204" pitchFamily="34" charset="0"/>
                <a:cs typeface="Arial" panose="020B0604020202020204" pitchFamily="34" charset="0"/>
                <a:hlinkClick r:id="rId8"/>
              </a:rPr>
              <a:t>https://doi.org/10.3947/ic.2020.0104</a:t>
            </a:r>
            <a:endParaRPr lang="en-GB" sz="2400" dirty="0">
              <a:latin typeface="Arial" panose="020B0604020202020204" pitchFamily="34" charset="0"/>
              <a:cs typeface="Arial" panose="020B0604020202020204" pitchFamily="34" charset="0"/>
            </a:endParaRPr>
          </a:p>
          <a:p>
            <a:pPr algn="just">
              <a:lnSpc>
                <a:spcPts val="3167"/>
              </a:lnSpc>
              <a:buClr>
                <a:schemeClr val="tx2"/>
              </a:buClr>
              <a:buFont typeface="+mj-lt"/>
              <a:buAutoNum type="arabicPeriod"/>
              <a:defRPr/>
            </a:pPr>
            <a:r>
              <a:rPr lang="en-GB" sz="2400" dirty="0">
                <a:latin typeface="Arial" panose="020B0604020202020204" pitchFamily="34" charset="0"/>
                <a:cs typeface="Arial" panose="020B0604020202020204" pitchFamily="34" charset="0"/>
              </a:rPr>
              <a:t>22.	Jung, J., </a:t>
            </a:r>
            <a:r>
              <a:rPr lang="en-GB" sz="2400" dirty="0" err="1">
                <a:latin typeface="Arial" panose="020B0604020202020204" pitchFamily="34" charset="0"/>
                <a:cs typeface="Arial" panose="020B0604020202020204" pitchFamily="34" charset="0"/>
              </a:rPr>
              <a:t>Phillipi</a:t>
            </a:r>
            <a:r>
              <a:rPr lang="en-GB" sz="2400" dirty="0">
                <a:latin typeface="Arial" panose="020B0604020202020204" pitchFamily="34" charset="0"/>
                <a:cs typeface="Arial" panose="020B0604020202020204" pitchFamily="34" charset="0"/>
              </a:rPr>
              <a:t>, M., Tran, B. et al. Accuracy of large language models in generating differential diagnosis from clinical presentation and imaging findings in </a:t>
            </a:r>
            <a:r>
              <a:rPr lang="en-GB" sz="2400" dirty="0" err="1">
                <a:latin typeface="Arial" panose="020B0604020202020204" pitchFamily="34" charset="0"/>
                <a:cs typeface="Arial" panose="020B0604020202020204" pitchFamily="34" charset="0"/>
              </a:rPr>
              <a:t>pediatric</a:t>
            </a:r>
            <a:r>
              <a:rPr lang="en-GB" sz="2400" dirty="0">
                <a:latin typeface="Arial" panose="020B0604020202020204" pitchFamily="34" charset="0"/>
                <a:cs typeface="Arial" panose="020B0604020202020204" pitchFamily="34" charset="0"/>
              </a:rPr>
              <a:t> cases. </a:t>
            </a:r>
            <a:r>
              <a:rPr lang="en-GB" sz="2400" dirty="0" err="1">
                <a:latin typeface="Arial" panose="020B0604020202020204" pitchFamily="34" charset="0"/>
                <a:cs typeface="Arial" panose="020B0604020202020204" pitchFamily="34" charset="0"/>
              </a:rPr>
              <a:t>Pediatr</a:t>
            </a:r>
            <a:r>
              <a:rPr lang="en-GB" sz="2400" dirty="0">
                <a:latin typeface="Arial" panose="020B0604020202020204" pitchFamily="34" charset="0"/>
                <a:cs typeface="Arial" panose="020B0604020202020204" pitchFamily="34" charset="0"/>
              </a:rPr>
              <a:t> </a:t>
            </a:r>
            <a:r>
              <a:rPr lang="en-GB" sz="2400" dirty="0" err="1">
                <a:latin typeface="Arial" panose="020B0604020202020204" pitchFamily="34" charset="0"/>
                <a:cs typeface="Arial" panose="020B0604020202020204" pitchFamily="34" charset="0"/>
              </a:rPr>
              <a:t>Radiol</a:t>
            </a:r>
            <a:r>
              <a:rPr lang="en-GB" sz="2400" dirty="0">
                <a:latin typeface="Arial" panose="020B0604020202020204" pitchFamily="34" charset="0"/>
                <a:cs typeface="Arial" panose="020B0604020202020204" pitchFamily="34" charset="0"/>
              </a:rPr>
              <a:t> 55, 1927–1933 (2025). </a:t>
            </a:r>
            <a:r>
              <a:rPr lang="en-GB" sz="2400" dirty="0">
                <a:latin typeface="Arial" panose="020B0604020202020204" pitchFamily="34" charset="0"/>
                <a:cs typeface="Arial" panose="020B0604020202020204" pitchFamily="34" charset="0"/>
                <a:hlinkClick r:id="rId9"/>
              </a:rPr>
              <a:t>https://doi.org/10.1007/s00247-025-06317-z</a:t>
            </a:r>
            <a:endParaRPr lang="en-GB" sz="2400" dirty="0">
              <a:latin typeface="Arial" panose="020B0604020202020204" pitchFamily="34" charset="0"/>
              <a:cs typeface="Arial" panose="020B0604020202020204" pitchFamily="34" charset="0"/>
            </a:endParaRPr>
          </a:p>
          <a:p>
            <a:pPr algn="just">
              <a:lnSpc>
                <a:spcPts val="3167"/>
              </a:lnSpc>
              <a:buClr>
                <a:schemeClr val="tx2"/>
              </a:buClr>
              <a:defRPr/>
            </a:pPr>
            <a:endParaRPr lang="en-GB" sz="2400" dirty="0">
              <a:latin typeface="Arial" panose="020B0604020202020204" pitchFamily="34" charset="0"/>
              <a:cs typeface="Arial" panose="020B0604020202020204" pitchFamily="34" charset="0"/>
            </a:endParaRPr>
          </a:p>
          <a:p>
            <a:pPr marL="0" marR="0" lvl="0" indent="0" algn="just" defTabSz="457200" rtl="0" eaLnBrk="1" fontAlgn="auto" latinLnBrk="0" hangingPunct="1">
              <a:lnSpc>
                <a:spcPts val="3833"/>
              </a:lnSpc>
              <a:spcBef>
                <a:spcPts val="0"/>
              </a:spcBef>
              <a:spcAft>
                <a:spcPts val="1000"/>
              </a:spcAft>
              <a:buClrTx/>
              <a:buSzTx/>
              <a:buFontTx/>
              <a:buNone/>
              <a:tabLst/>
              <a:defRPr/>
            </a:pPr>
            <a:endParaRPr lang="en-US" sz="4000" b="1" dirty="0">
              <a:solidFill>
                <a:srgbClr val="005BBB"/>
              </a:solidFill>
              <a:latin typeface="Aptos Display" panose="02110004020202020204"/>
            </a:endParaRPr>
          </a:p>
          <a:p>
            <a:pPr marL="0" marR="0" lvl="0" indent="0" algn="just" defTabSz="457200" rtl="0" eaLnBrk="1" fontAlgn="auto" latinLnBrk="0" hangingPunct="1">
              <a:lnSpc>
                <a:spcPts val="3833"/>
              </a:lnSpc>
              <a:spcBef>
                <a:spcPts val="0"/>
              </a:spcBef>
              <a:spcAft>
                <a:spcPts val="1000"/>
              </a:spcAft>
              <a:buClrTx/>
              <a:buSzTx/>
              <a:buFontTx/>
              <a:buNone/>
              <a:tabLst/>
              <a:defRPr/>
            </a:pPr>
            <a:r>
              <a:rPr lang="en-US" sz="4000" b="1" dirty="0">
                <a:solidFill>
                  <a:srgbClr val="005BBB"/>
                </a:solidFill>
                <a:latin typeface="Aptos Display" panose="02110004020202020204"/>
              </a:rPr>
              <a:t>Acknowledgement</a:t>
            </a:r>
          </a:p>
          <a:p>
            <a:pPr marL="0" marR="0" lvl="0" indent="0" algn="just" defTabSz="457200" rtl="0" eaLnBrk="1" fontAlgn="auto" latinLnBrk="0" hangingPunct="1">
              <a:lnSpc>
                <a:spcPts val="3833"/>
              </a:lnSpc>
              <a:spcBef>
                <a:spcPts val="0"/>
              </a:spcBef>
              <a:spcAft>
                <a:spcPts val="1000"/>
              </a:spcAft>
              <a:buClrTx/>
              <a:buSzTx/>
              <a:buFontTx/>
              <a:buNone/>
              <a:tabLst/>
              <a:defRPr/>
            </a:pPr>
            <a:r>
              <a:rPr lang="en-GB" sz="3400" dirty="0">
                <a:latin typeface="Arial" panose="020B0604020202020204" pitchFamily="34" charset="0"/>
                <a:cs typeface="Arial" panose="020B0604020202020204" pitchFamily="34" charset="0"/>
              </a:rPr>
              <a:t>Grateful to American International University-Bangladesh (AIUB) for providing essential resources. Thankful for the supportive academic environment that enabled this study. Honoured to represent AIUB in promoting data-driven healthcare solutions. Appreciate </a:t>
            </a:r>
            <a:r>
              <a:rPr lang="en-GB" sz="3400" dirty="0" err="1">
                <a:latin typeface="Arial" panose="020B0604020202020204" pitchFamily="34" charset="0"/>
                <a:cs typeface="Arial" panose="020B0604020202020204" pitchFamily="34" charset="0"/>
              </a:rPr>
              <a:t>Aiub’s</a:t>
            </a:r>
            <a:r>
              <a:rPr lang="en-GB" sz="3400" dirty="0">
                <a:latin typeface="Arial" panose="020B0604020202020204" pitchFamily="34" charset="0"/>
                <a:cs typeface="Arial" panose="020B0604020202020204" pitchFamily="34" charset="0"/>
              </a:rPr>
              <a:t> commitment to promoting significant research and societal welfare. </a:t>
            </a:r>
          </a:p>
        </p:txBody>
      </p:sp>
      <p:sp>
        <p:nvSpPr>
          <p:cNvPr id="17" name="TextBox 16">
            <a:extLst>
              <a:ext uri="{FF2B5EF4-FFF2-40B4-BE49-F238E27FC236}">
                <a16:creationId xmlns:a16="http://schemas.microsoft.com/office/drawing/2014/main" id="{8C007455-CBB4-4474-BBFE-A9393B6E5610}"/>
              </a:ext>
            </a:extLst>
          </p:cNvPr>
          <p:cNvSpPr txBox="1"/>
          <p:nvPr/>
        </p:nvSpPr>
        <p:spPr>
          <a:xfrm>
            <a:off x="9278453" y="3813604"/>
            <a:ext cx="8839200" cy="32901315"/>
          </a:xfrm>
          <a:prstGeom prst="rect">
            <a:avLst/>
          </a:prstGeom>
          <a:noFill/>
        </p:spPr>
        <p:txBody>
          <a:bodyPr wrap="square" rtlCol="0">
            <a:spAutoFit/>
          </a:bodyPr>
          <a:lstStyle/>
          <a:p>
            <a:pPr marL="457200" indent="-457200" algn="just">
              <a:buFont typeface="Wingdings" panose="05000000000000000000" pitchFamily="2" charset="2"/>
              <a:buChar char="§"/>
            </a:pPr>
            <a:r>
              <a:rPr lang="en-US" sz="3400" dirty="0">
                <a:latin typeface="Arial" panose="020B0604020202020204" pitchFamily="34" charset="0"/>
                <a:cs typeface="Arial" panose="020B0604020202020204" pitchFamily="34" charset="0"/>
              </a:rPr>
              <a:t>Model Evaluation For each model, computed:Top-1 Accuracy: correct single prediction Top-3 Accuracy: true pathology among top 3 predictionsTop-5 Accuracy: true pathology among top 5 predictions Evaluation done on both validation and test data. All results summarized into one comparison table.</a:t>
            </a:r>
          </a:p>
          <a:p>
            <a:pPr marL="457200" indent="-457200" algn="just">
              <a:buFont typeface="Wingdings" panose="05000000000000000000" pitchFamily="2" charset="2"/>
              <a:buChar char="§"/>
            </a:pPr>
            <a:endParaRPr lang="en-US" sz="3400" dirty="0">
              <a:latin typeface="Arial" panose="020B0604020202020204" pitchFamily="34" charset="0"/>
              <a:cs typeface="Arial" panose="020B0604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lang="en-US" sz="4000" b="1" dirty="0">
                <a:solidFill>
                  <a:srgbClr val="005BBB"/>
                </a:solidFill>
                <a:latin typeface="Aptos Display" panose="02110004020202020204"/>
              </a:rPr>
              <a:t>Data Analysis</a:t>
            </a:r>
          </a:p>
          <a:p>
            <a:pPr marL="0" marR="0" lvl="0" indent="0" algn="just" defTabSz="457200" rtl="0" eaLnBrk="1" fontAlgn="auto" latinLnBrk="0" hangingPunct="1">
              <a:lnSpc>
                <a:spcPct val="100000"/>
              </a:lnSpc>
              <a:spcBef>
                <a:spcPts val="0"/>
              </a:spcBef>
              <a:spcAft>
                <a:spcPts val="0"/>
              </a:spcAft>
              <a:buClrTx/>
              <a:buSzTx/>
              <a:buFontTx/>
              <a:buNone/>
              <a:tabLst/>
              <a:defRPr/>
            </a:pPr>
            <a:r>
              <a:rPr lang="en-GB" sz="3400" dirty="0">
                <a:latin typeface="Arial" panose="020B0604020202020204" pitchFamily="34" charset="0"/>
                <a:cs typeface="Arial" panose="020B0604020202020204" pitchFamily="34" charset="0"/>
              </a:rPr>
              <a:t>Dataset :</a:t>
            </a:r>
            <a:endParaRPr lang="en-US" sz="3400" b="1" dirty="0">
              <a:solidFill>
                <a:srgbClr val="005BBB"/>
              </a:solidFill>
              <a:latin typeface="Arial" panose="020B0604020202020204" pitchFamily="34" charset="0"/>
              <a:cs typeface="Arial" panose="020B0604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n-US" sz="4000" b="1" dirty="0">
              <a:solidFill>
                <a:srgbClr val="005BBB"/>
              </a:solidFill>
              <a:latin typeface="Aptos Display" panose="02110004020202020204"/>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n-US" sz="4000" b="1" dirty="0">
              <a:solidFill>
                <a:srgbClr val="005BBB"/>
              </a:solidFill>
              <a:latin typeface="Aptos Display" panose="02110004020202020204"/>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n-US" sz="4000" b="1" dirty="0">
              <a:solidFill>
                <a:srgbClr val="005BBB"/>
              </a:solidFill>
              <a:latin typeface="Aptos Display" panose="02110004020202020204"/>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n-US" sz="4000" b="1" dirty="0">
              <a:solidFill>
                <a:srgbClr val="005BBB"/>
              </a:solidFill>
              <a:latin typeface="Aptos Display" panose="02110004020202020204"/>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n-US" sz="4000" b="1" dirty="0">
              <a:solidFill>
                <a:srgbClr val="005BBB"/>
              </a:solidFill>
              <a:latin typeface="Aptos Display" panose="02110004020202020204"/>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n-US" sz="4000" b="1" dirty="0">
              <a:solidFill>
                <a:srgbClr val="005BBB"/>
              </a:solidFill>
              <a:latin typeface="Aptos Display" panose="02110004020202020204"/>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n-GB" sz="3400" dirty="0">
              <a:latin typeface="Arial" panose="020B0604020202020204" pitchFamily="34" charset="0"/>
              <a:cs typeface="Arial" panose="020B0604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n-GB" sz="3400" dirty="0">
              <a:latin typeface="Arial" panose="020B0604020202020204" pitchFamily="34" charset="0"/>
              <a:cs typeface="Arial" panose="020B0604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n-GB" sz="3400" dirty="0">
              <a:latin typeface="Arial" panose="020B0604020202020204" pitchFamily="34" charset="0"/>
              <a:cs typeface="Arial" panose="020B0604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lang="en-GB" sz="3400" dirty="0">
                <a:latin typeface="Arial" panose="020B0604020202020204" pitchFamily="34" charset="0"/>
                <a:cs typeface="Arial" panose="020B0604020202020204" pitchFamily="34" charset="0"/>
              </a:rPr>
              <a:t>Key fields in the dataset are : </a:t>
            </a:r>
          </a:p>
          <a:p>
            <a:pPr marL="514350" indent="-514350" algn="just">
              <a:buFont typeface="+mj-lt"/>
              <a:buAutoNum type="alphaUcPeriod"/>
            </a:pPr>
            <a:r>
              <a:rPr lang="en-GB" sz="3400" dirty="0">
                <a:latin typeface="Arial" panose="020B0604020202020204" pitchFamily="34" charset="0"/>
                <a:cs typeface="Arial" panose="020B0604020202020204" pitchFamily="34" charset="0"/>
              </a:rPr>
              <a:t>Age –  Used as a numerical feature.</a:t>
            </a:r>
          </a:p>
          <a:p>
            <a:pPr marL="514350" indent="-514350" algn="just">
              <a:buFont typeface="+mj-lt"/>
              <a:buAutoNum type="alphaUcPeriod"/>
            </a:pPr>
            <a:r>
              <a:rPr lang="en-GB" sz="3400" dirty="0">
                <a:latin typeface="Arial" panose="020B0604020202020204" pitchFamily="34" charset="0"/>
                <a:cs typeface="Arial" panose="020B0604020202020204" pitchFamily="34" charset="0"/>
              </a:rPr>
              <a:t>Sex – Converted into numeric form for the model.</a:t>
            </a:r>
          </a:p>
          <a:p>
            <a:pPr marL="514350" indent="-514350" algn="just">
              <a:buFont typeface="+mj-lt"/>
              <a:buAutoNum type="alphaUcPeriod"/>
            </a:pPr>
            <a:r>
              <a:rPr lang="en-GB" sz="3400" dirty="0">
                <a:latin typeface="Arial" panose="020B0604020202020204" pitchFamily="34" charset="0"/>
                <a:cs typeface="Arial" panose="020B0604020202020204" pitchFamily="34" charset="0"/>
              </a:rPr>
              <a:t>Evidences – A list of coded clinical findings (symptoms, signs, lab clues). Each token represents a specific clinical observation, such as “cough,” “fever,” or “pain severity”. These codes are transformed into a multi-hot vector, forming the main feature set for model training.</a:t>
            </a:r>
          </a:p>
          <a:p>
            <a:pPr marL="514350" indent="-514350" algn="just">
              <a:buFont typeface="+mj-lt"/>
              <a:buAutoNum type="alphaUcPeriod"/>
            </a:pPr>
            <a:r>
              <a:rPr lang="en-GB" sz="3400" dirty="0">
                <a:latin typeface="Arial" panose="020B0604020202020204" pitchFamily="34" charset="0"/>
                <a:cs typeface="Arial" panose="020B0604020202020204" pitchFamily="34" charset="0"/>
              </a:rPr>
              <a:t>Initial evidence – The first presenting symptom; not used in the current model.</a:t>
            </a:r>
          </a:p>
          <a:p>
            <a:pPr marL="514350" indent="-514350" algn="just">
              <a:buFont typeface="+mj-lt"/>
              <a:buAutoNum type="alphaUcPeriod"/>
            </a:pPr>
            <a:r>
              <a:rPr lang="en-GB" sz="3400" dirty="0">
                <a:latin typeface="Arial" panose="020B0604020202020204" pitchFamily="34" charset="0"/>
                <a:cs typeface="Arial" panose="020B0604020202020204" pitchFamily="34" charset="0"/>
              </a:rPr>
              <a:t>Pathology – The final confirmed diagnosis. This is the target variable the model learns to predict.</a:t>
            </a:r>
            <a:endParaRPr lang="en-US" sz="3400" dirty="0">
              <a:latin typeface="Arial" panose="020B0604020202020204" pitchFamily="34" charset="0"/>
              <a:cs typeface="Arial" panose="020B0604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n-US" sz="3600" b="1" dirty="0">
              <a:solidFill>
                <a:srgbClr val="005BBB"/>
              </a:solidFill>
              <a:latin typeface="Aptos Display" panose="02110004020202020204"/>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n-US" sz="3600" b="1" dirty="0">
              <a:solidFill>
                <a:srgbClr val="005BBB"/>
              </a:solidFill>
              <a:latin typeface="Aptos Display" panose="02110004020202020204"/>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n-US" sz="3600" b="1" dirty="0">
              <a:solidFill>
                <a:srgbClr val="005BBB"/>
              </a:solidFill>
              <a:latin typeface="Aptos Display" panose="02110004020202020204"/>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n-US" sz="3600" b="1" dirty="0">
              <a:solidFill>
                <a:srgbClr val="005BBB"/>
              </a:solidFill>
              <a:latin typeface="Aptos Display" panose="02110004020202020204"/>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n-US" sz="3600" b="1" dirty="0">
              <a:solidFill>
                <a:srgbClr val="005BBB"/>
              </a:solidFill>
              <a:latin typeface="Aptos Display" panose="02110004020202020204"/>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n-US" sz="3600" b="1" dirty="0">
              <a:solidFill>
                <a:srgbClr val="005BBB"/>
              </a:solidFill>
              <a:latin typeface="Aptos Display" panose="02110004020202020204"/>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n-US" sz="3600" b="1" dirty="0">
              <a:solidFill>
                <a:srgbClr val="005BBB"/>
              </a:solidFill>
              <a:latin typeface="Aptos Display" panose="02110004020202020204"/>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n-US" sz="3600" b="1" dirty="0">
              <a:solidFill>
                <a:srgbClr val="005BBB"/>
              </a:solidFill>
              <a:latin typeface="Aptos Display" panose="02110004020202020204"/>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n-US" sz="3600" b="1" dirty="0">
              <a:solidFill>
                <a:srgbClr val="005BBB"/>
              </a:solidFill>
              <a:latin typeface="Aptos Display" panose="02110004020202020204"/>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lang="en-GB" sz="3400" dirty="0">
                <a:latin typeface="Arial" panose="020B0604020202020204" pitchFamily="34" charset="0"/>
                <a:cs typeface="Arial" panose="020B0604020202020204" pitchFamily="34" charset="0"/>
              </a:rPr>
              <a:t>This figure shows the 20 most common diseases in the dataset across all splits, highlighting how frequently each pathology appears. Conditions such as URTI, viral pharyngitis, and anemia dominate the distribution.</a:t>
            </a:r>
          </a:p>
          <a:p>
            <a:pPr marL="0" marR="0" lvl="0" indent="0" algn="just" defTabSz="457200" rtl="0" eaLnBrk="1" fontAlgn="auto" latinLnBrk="0" hangingPunct="1">
              <a:lnSpc>
                <a:spcPct val="100000"/>
              </a:lnSpc>
              <a:spcBef>
                <a:spcPts val="0"/>
              </a:spcBef>
              <a:spcAft>
                <a:spcPts val="0"/>
              </a:spcAft>
              <a:buClrTx/>
              <a:buSzTx/>
              <a:buFontTx/>
              <a:buNone/>
              <a:tabLst/>
              <a:defRPr/>
            </a:pPr>
            <a:endParaRPr lang="en-GB" sz="3400" dirty="0">
              <a:latin typeface="Arial" panose="020B0604020202020204" pitchFamily="34" charset="0"/>
              <a:cs typeface="Arial" panose="020B0604020202020204" pitchFamily="34" charset="0"/>
            </a:endParaRPr>
          </a:p>
          <a:p>
            <a:pPr marL="0" marR="0" lvl="0" indent="0" algn="just" defTabSz="457200" rtl="0" eaLnBrk="1" fontAlgn="auto" latinLnBrk="0" hangingPunct="1">
              <a:lnSpc>
                <a:spcPts val="3833"/>
              </a:lnSpc>
              <a:spcBef>
                <a:spcPts val="0"/>
              </a:spcBef>
              <a:spcAft>
                <a:spcPts val="1000"/>
              </a:spcAft>
              <a:buClrTx/>
              <a:buSzTx/>
              <a:buFontTx/>
              <a:buNone/>
              <a:tabLst/>
              <a:defRPr/>
            </a:pPr>
            <a:r>
              <a:rPr lang="en-US" sz="4000" b="1" dirty="0">
                <a:solidFill>
                  <a:srgbClr val="005BBB"/>
                </a:solidFill>
                <a:latin typeface="Aptos Display" panose="02110004020202020204"/>
              </a:rPr>
              <a:t>Results</a:t>
            </a:r>
          </a:p>
          <a:p>
            <a:pPr marL="0" marR="0" lvl="0" indent="0" algn="just" defTabSz="457200" rtl="0" eaLnBrk="1" fontAlgn="auto" latinLnBrk="0" hangingPunct="1">
              <a:lnSpc>
                <a:spcPts val="3833"/>
              </a:lnSpc>
              <a:spcBef>
                <a:spcPts val="0"/>
              </a:spcBef>
              <a:spcAft>
                <a:spcPts val="1000"/>
              </a:spcAft>
              <a:buClrTx/>
              <a:buSzTx/>
              <a:buFontTx/>
              <a:buNone/>
              <a:tabLst/>
              <a:defRPr/>
            </a:pPr>
            <a:r>
              <a:rPr lang="en-GB" sz="3400" dirty="0">
                <a:latin typeface="Arial" panose="020B0604020202020204" pitchFamily="34" charset="0"/>
                <a:cs typeface="Arial" panose="020B0604020202020204" pitchFamily="34" charset="0"/>
              </a:rPr>
              <a:t>Linear models (Logistic-style, SVM, SGD, Ridge) performed well, achieving &gt;98% Top-1 accuracy and perfect Top-3/Top-5 across validation and test sets. Random Forest and</a:t>
            </a:r>
          </a:p>
          <a:p>
            <a:pPr algn="just">
              <a:lnSpc>
                <a:spcPts val="3833"/>
              </a:lnSpc>
              <a:spcAft>
                <a:spcPts val="1000"/>
              </a:spcAft>
              <a:defRPr/>
            </a:pPr>
            <a:r>
              <a:rPr lang="en-GB" sz="3400" dirty="0" err="1">
                <a:latin typeface="Arial" panose="020B0604020202020204" pitchFamily="34" charset="0"/>
                <a:cs typeface="Arial" panose="020B0604020202020204" pitchFamily="34" charset="0"/>
              </a:rPr>
              <a:t>XGBoost</a:t>
            </a:r>
            <a:r>
              <a:rPr lang="en-GB" sz="3400" dirty="0">
                <a:latin typeface="Arial" panose="020B0604020202020204" pitchFamily="34" charset="0"/>
                <a:cs typeface="Arial" panose="020B0604020202020204" pitchFamily="34" charset="0"/>
              </a:rPr>
              <a:t> also showed near-perfect performance, matching or slightly exceeding the linear models. </a:t>
            </a:r>
            <a:endParaRPr lang="en-US" sz="3400" dirty="0">
              <a:latin typeface="Arial" panose="020B0604020202020204" pitchFamily="34" charset="0"/>
              <a:cs typeface="Arial" panose="020B0604020202020204" pitchFamily="34" charset="0"/>
            </a:endParaRPr>
          </a:p>
        </p:txBody>
      </p:sp>
      <p:pic>
        <p:nvPicPr>
          <p:cNvPr id="31" name="Picture 30">
            <a:extLst>
              <a:ext uri="{FF2B5EF4-FFF2-40B4-BE49-F238E27FC236}">
                <a16:creationId xmlns:a16="http://schemas.microsoft.com/office/drawing/2014/main" id="{430527FC-B6E8-45A7-9DAF-5420DD2D3EB9}"/>
              </a:ext>
            </a:extLst>
          </p:cNvPr>
          <p:cNvPicPr>
            <a:picLocks noChangeAspect="1"/>
          </p:cNvPicPr>
          <p:nvPr/>
        </p:nvPicPr>
        <p:blipFill>
          <a:blip r:embed="rId10"/>
          <a:stretch>
            <a:fillRect/>
          </a:stretch>
        </p:blipFill>
        <p:spPr>
          <a:xfrm>
            <a:off x="9390079" y="9664407"/>
            <a:ext cx="8689110" cy="5158584"/>
          </a:xfrm>
          <a:prstGeom prst="rect">
            <a:avLst/>
          </a:prstGeom>
        </p:spPr>
      </p:pic>
      <p:pic>
        <p:nvPicPr>
          <p:cNvPr id="33" name="Picture 32">
            <a:extLst>
              <a:ext uri="{FF2B5EF4-FFF2-40B4-BE49-F238E27FC236}">
                <a16:creationId xmlns:a16="http://schemas.microsoft.com/office/drawing/2014/main" id="{714BCCCC-AA44-4BE9-BFDC-8174E1F3686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351614" y="23550739"/>
            <a:ext cx="8766040" cy="4469677"/>
          </a:xfrm>
          <a:prstGeom prst="rect">
            <a:avLst/>
          </a:prstGeom>
        </p:spPr>
      </p:pic>
      <p:pic>
        <p:nvPicPr>
          <p:cNvPr id="36" name="Picture 35">
            <a:extLst>
              <a:ext uri="{FF2B5EF4-FFF2-40B4-BE49-F238E27FC236}">
                <a16:creationId xmlns:a16="http://schemas.microsoft.com/office/drawing/2014/main" id="{554D8651-40AC-4C0A-A640-5CA2075815EE}"/>
              </a:ext>
            </a:extLst>
          </p:cNvPr>
          <p:cNvPicPr>
            <a:picLocks noChangeAspect="1"/>
          </p:cNvPicPr>
          <p:nvPr/>
        </p:nvPicPr>
        <p:blipFill>
          <a:blip r:embed="rId12"/>
          <a:stretch>
            <a:fillRect/>
          </a:stretch>
        </p:blipFill>
        <p:spPr>
          <a:xfrm>
            <a:off x="9392577" y="36438124"/>
            <a:ext cx="8763024" cy="5387918"/>
          </a:xfrm>
          <a:prstGeom prst="rect">
            <a:avLst/>
          </a:prstGeom>
        </p:spPr>
      </p:pic>
      <p:pic>
        <p:nvPicPr>
          <p:cNvPr id="44" name="Picture 43">
            <a:extLst>
              <a:ext uri="{FF2B5EF4-FFF2-40B4-BE49-F238E27FC236}">
                <a16:creationId xmlns:a16="http://schemas.microsoft.com/office/drawing/2014/main" id="{F5B7951F-3DF7-4C23-AD85-8E99C50DF22F}"/>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77106" y="32151484"/>
            <a:ext cx="8763023" cy="6028026"/>
          </a:xfrm>
          <a:prstGeom prst="rect">
            <a:avLst/>
          </a:prstGeom>
        </p:spPr>
      </p:pic>
      <p:cxnSp>
        <p:nvCxnSpPr>
          <p:cNvPr id="18" name="Straight Connector 17">
            <a:extLst>
              <a:ext uri="{FF2B5EF4-FFF2-40B4-BE49-F238E27FC236}">
                <a16:creationId xmlns:a16="http://schemas.microsoft.com/office/drawing/2014/main" id="{3A34C463-AEDB-4D25-B935-8A01D3450B6C}"/>
              </a:ext>
            </a:extLst>
          </p:cNvPr>
          <p:cNvCxnSpPr/>
          <p:nvPr/>
        </p:nvCxnSpPr>
        <p:spPr bwMode="auto">
          <a:xfrm>
            <a:off x="895350" y="20860180"/>
            <a:ext cx="7991107" cy="0"/>
          </a:xfrm>
          <a:prstGeom prst="line">
            <a:avLst/>
          </a:prstGeom>
          <a:noFill/>
          <a:ln w="25400" cap="flat" cmpd="sng" algn="ctr">
            <a:solidFill>
              <a:schemeClr val="tx1"/>
            </a:solidFill>
            <a:prstDash val="dash"/>
            <a:round/>
            <a:headEnd type="none" w="med" len="med"/>
            <a:tailEnd type="none" w="med" len="med"/>
          </a:ln>
          <a:effectLst/>
        </p:spPr>
      </p:cxnSp>
      <p:cxnSp>
        <p:nvCxnSpPr>
          <p:cNvPr id="19" name="Straight Connector 18">
            <a:extLst>
              <a:ext uri="{FF2B5EF4-FFF2-40B4-BE49-F238E27FC236}">
                <a16:creationId xmlns:a16="http://schemas.microsoft.com/office/drawing/2014/main" id="{6DFDFC42-D436-4024-8811-0C972BD3BC88}"/>
              </a:ext>
            </a:extLst>
          </p:cNvPr>
          <p:cNvCxnSpPr/>
          <p:nvPr/>
        </p:nvCxnSpPr>
        <p:spPr bwMode="auto">
          <a:xfrm>
            <a:off x="9761444" y="8264768"/>
            <a:ext cx="7991107" cy="0"/>
          </a:xfrm>
          <a:prstGeom prst="line">
            <a:avLst/>
          </a:prstGeom>
          <a:noFill/>
          <a:ln w="25400" cap="flat" cmpd="sng" algn="ctr">
            <a:solidFill>
              <a:schemeClr val="tx1"/>
            </a:solidFill>
            <a:prstDash val="dash"/>
            <a:round/>
            <a:headEnd type="none" w="med" len="med"/>
            <a:tailEnd type="none" w="med" len="med"/>
          </a:ln>
          <a:effectLst/>
        </p:spPr>
      </p:cxnSp>
      <p:cxnSp>
        <p:nvCxnSpPr>
          <p:cNvPr id="20" name="Straight Connector 19">
            <a:extLst>
              <a:ext uri="{FF2B5EF4-FFF2-40B4-BE49-F238E27FC236}">
                <a16:creationId xmlns:a16="http://schemas.microsoft.com/office/drawing/2014/main" id="{2C01E145-71D9-4C1F-9EB5-C3DC9598F97B}"/>
              </a:ext>
            </a:extLst>
          </p:cNvPr>
          <p:cNvCxnSpPr/>
          <p:nvPr/>
        </p:nvCxnSpPr>
        <p:spPr bwMode="auto">
          <a:xfrm>
            <a:off x="9720446" y="31999084"/>
            <a:ext cx="7991107" cy="0"/>
          </a:xfrm>
          <a:prstGeom prst="line">
            <a:avLst/>
          </a:prstGeom>
          <a:noFill/>
          <a:ln w="25400" cap="flat" cmpd="sng" algn="ctr">
            <a:solidFill>
              <a:schemeClr val="tx1"/>
            </a:solidFill>
            <a:prstDash val="dash"/>
            <a:round/>
            <a:headEnd type="none" w="med" len="med"/>
            <a:tailEnd type="none" w="med" len="med"/>
          </a:ln>
          <a:effectLst/>
        </p:spPr>
      </p:cxnSp>
      <p:cxnSp>
        <p:nvCxnSpPr>
          <p:cNvPr id="21" name="Straight Connector 20">
            <a:extLst>
              <a:ext uri="{FF2B5EF4-FFF2-40B4-BE49-F238E27FC236}">
                <a16:creationId xmlns:a16="http://schemas.microsoft.com/office/drawing/2014/main" id="{E4089DEB-5B16-421A-AC7A-8F67B14F7860}"/>
              </a:ext>
            </a:extLst>
          </p:cNvPr>
          <p:cNvCxnSpPr/>
          <p:nvPr/>
        </p:nvCxnSpPr>
        <p:spPr bwMode="auto">
          <a:xfrm>
            <a:off x="18468636" y="6167027"/>
            <a:ext cx="7991107" cy="0"/>
          </a:xfrm>
          <a:prstGeom prst="line">
            <a:avLst/>
          </a:prstGeom>
          <a:noFill/>
          <a:ln w="25400" cap="flat" cmpd="sng" algn="ctr">
            <a:solidFill>
              <a:schemeClr val="tx1"/>
            </a:solidFill>
            <a:prstDash val="dash"/>
            <a:round/>
            <a:headEnd type="none" w="med" len="med"/>
            <a:tailEnd type="none" w="med" len="med"/>
          </a:ln>
          <a:effectLst/>
        </p:spPr>
      </p:cxnSp>
      <p:cxnSp>
        <p:nvCxnSpPr>
          <p:cNvPr id="22" name="Straight Connector 21">
            <a:extLst>
              <a:ext uri="{FF2B5EF4-FFF2-40B4-BE49-F238E27FC236}">
                <a16:creationId xmlns:a16="http://schemas.microsoft.com/office/drawing/2014/main" id="{25B71DAA-2E99-4DB9-9349-55A180B0FEF5}"/>
              </a:ext>
            </a:extLst>
          </p:cNvPr>
          <p:cNvCxnSpPr/>
          <p:nvPr/>
        </p:nvCxnSpPr>
        <p:spPr bwMode="auto">
          <a:xfrm>
            <a:off x="18468636" y="15142717"/>
            <a:ext cx="7991107" cy="0"/>
          </a:xfrm>
          <a:prstGeom prst="line">
            <a:avLst/>
          </a:prstGeom>
          <a:noFill/>
          <a:ln w="25400" cap="flat" cmpd="sng" algn="ctr">
            <a:solidFill>
              <a:schemeClr val="tx1"/>
            </a:solidFill>
            <a:prstDash val="dash"/>
            <a:round/>
            <a:headEnd type="none" w="med" len="med"/>
            <a:tailEnd type="none" w="med" len="med"/>
          </a:ln>
          <a:effectLst/>
        </p:spPr>
      </p:cxnSp>
      <p:cxnSp>
        <p:nvCxnSpPr>
          <p:cNvPr id="23" name="Straight Connector 22">
            <a:extLst>
              <a:ext uri="{FF2B5EF4-FFF2-40B4-BE49-F238E27FC236}">
                <a16:creationId xmlns:a16="http://schemas.microsoft.com/office/drawing/2014/main" id="{1C2FB7C1-5506-40F9-8731-45E0DF2ADE6C}"/>
              </a:ext>
            </a:extLst>
          </p:cNvPr>
          <p:cNvCxnSpPr/>
          <p:nvPr/>
        </p:nvCxnSpPr>
        <p:spPr bwMode="auto">
          <a:xfrm>
            <a:off x="18636839" y="36682388"/>
            <a:ext cx="7991107" cy="0"/>
          </a:xfrm>
          <a:prstGeom prst="line">
            <a:avLst/>
          </a:prstGeom>
          <a:noFill/>
          <a:ln w="25400" cap="flat" cmpd="sng" algn="ctr">
            <a:solidFill>
              <a:schemeClr val="tx1"/>
            </a:solidFill>
            <a:prstDash val="dash"/>
            <a:round/>
            <a:headEnd type="none" w="med" len="med"/>
            <a:tailEnd type="none" w="med" len="med"/>
          </a:ln>
          <a:effectLst/>
        </p:spPr>
      </p:cxnSp>
    </p:spTree>
    <p:extLst>
      <p:ext uri="{BB962C8B-B14F-4D97-AF65-F5344CB8AC3E}">
        <p14:creationId xmlns:p14="http://schemas.microsoft.com/office/powerpoint/2010/main" val="402399014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1147</TotalTime>
  <Words>1468</Words>
  <Application>Microsoft Office PowerPoint</Application>
  <PresentationFormat>Custom</PresentationFormat>
  <Paragraphs>83</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 Display</vt:lpstr>
      <vt:lpstr>Arial</vt:lpstr>
      <vt:lpstr>Calibri</vt:lpstr>
      <vt:lpstr>Calibri Light</vt:lpstr>
      <vt:lpstr>Cambria</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masum mostafa</dc:creator>
  <cp:lastModifiedBy>masum mostafa</cp:lastModifiedBy>
  <cp:revision>17</cp:revision>
  <dcterms:created xsi:type="dcterms:W3CDTF">2025-12-03T08:22:49Z</dcterms:created>
  <dcterms:modified xsi:type="dcterms:W3CDTF">2025-12-04T03:33:36Z</dcterms:modified>
</cp:coreProperties>
</file>